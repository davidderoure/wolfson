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  <p:sldMasterId id="2147483660" r:id="rId2"/>
  </p:sldMasterIdLst>
  <p:notesMasterIdLst>
    <p:notesMasterId r:id="rId14"/>
  </p:notesMasterIdLst>
  <p:sldIdLst>
    <p:sldId id="256" r:id="rId3"/>
    <p:sldId id="257" r:id="rId4"/>
    <p:sldId id="259" r:id="rId5"/>
    <p:sldId id="258" r:id="rId6"/>
    <p:sldId id="264" r:id="rId7"/>
    <p:sldId id="262" r:id="rId8"/>
    <p:sldId id="263" r:id="rId9"/>
    <p:sldId id="266" r:id="rId10"/>
    <p:sldId id="260" r:id="rId11"/>
    <p:sldId id="265" r:id="rId12"/>
    <p:sldId id="261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497"/>
    <p:restoredTop sz="94660"/>
  </p:normalViewPr>
  <p:slideViewPr>
    <p:cSldViewPr snapToGrid="0">
      <p:cViewPr>
        <p:scale>
          <a:sx n="88" d="100"/>
          <a:sy n="88" d="100"/>
        </p:scale>
        <p:origin x="1512" y="744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tableStyles" Target="tableStyles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theme" Target="theme/theme1.xml"/><Relationship Id="rId2" Type="http://schemas.openxmlformats.org/officeDocument/2006/relationships/slideMaster" Target="slideMasters/slideMaster2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5" Type="http://schemas.openxmlformats.org/officeDocument/2006/relationships/slide" Target="slides/slide3.xml"/><Relationship Id="rId15" Type="http://schemas.openxmlformats.org/officeDocument/2006/relationships/presProps" Target="presProps.xml"/><Relationship Id="rId10" Type="http://schemas.openxmlformats.org/officeDocument/2006/relationships/slide" Target="slides/slide8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C323DB7-7F8E-0241-8824-58FDBBD2EE98}" type="datetimeFigureOut">
              <a:rPr lang="en-US" smtClean="0"/>
              <a:t>4/1/26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4125BD8-DB9E-B04B-ACC5-175F26D74AA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335846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125BD8-DB9E-B04B-ACC5-175F26D74AAD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564010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125BD8-DB9E-B04B-ACC5-175F26D74AAD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276542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125BD8-DB9E-B04B-ACC5-175F26D74AAD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642849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125BD8-DB9E-B04B-ACC5-175F26D74AAD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300785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54EE45-609D-D677-B43A-1B23ED1C71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EE766DD-6C9D-4F48-DE19-C2C90B38D1B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F4DCF14-5DDD-BC52-2EC2-7F5531F58D3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3D2C179-DB8F-F062-1E98-FE92A957E4F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125BD8-DB9E-B04B-ACC5-175F26D74AAD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301478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0E8DB4-873F-D49B-5A6A-3D1AD0B528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52702C7-345E-C75D-A328-9874576E5AA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C826AAB-6AC5-03EA-2E51-800B480EB7E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106E4B0-9E74-D132-25BB-AF4F714DB11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125BD8-DB9E-B04B-ACC5-175F26D74AAD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563104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125BD8-DB9E-B04B-ACC5-175F26D74AAD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095731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AA1B4C-8A5F-7E1F-D717-5586319500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5F2E02D-EE58-F0A1-BE05-F7E7B94B1C9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551559A-18A7-1297-B352-2C739F8E7BE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8D4B99C-77BF-2D3F-489B-53F92A58E3A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125BD8-DB9E-B04B-ACC5-175F26D74AAD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69876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125BD8-DB9E-B04B-ACC5-175F26D74AAD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123213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7981FB-0BB1-B7BD-36AC-4E6C823F6C9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B3AC6F3-73BB-1EF1-27B3-BA6857F5DE8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86DB308-FCA4-CF56-117A-C49759D51B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887482-337B-0C49-8B44-90FE2531483D}" type="datetimeFigureOut">
              <a:rPr lang="en-US" smtClean="0"/>
              <a:t>4/1/26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A30ECCF-F897-92F3-6136-A8CACD5A14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D03F27F-808E-B281-6F32-E5BECA43F2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E3B367-EFD8-7E46-8D2C-B33701C7C6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271825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78ECBC-8E90-CEE0-2CBA-2D0FAD6DDE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1E00E35-DBB3-0BE1-D399-61AB5B131E3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3CBF18-8D7A-AC84-858B-54892D1791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887482-337B-0C49-8B44-90FE2531483D}" type="datetimeFigureOut">
              <a:rPr lang="en-US" smtClean="0"/>
              <a:t>4/1/26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231A0CA-1388-0822-6C60-74B3558738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97EB9B6-8013-EA21-B4B5-DD54B2E9DA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E3B367-EFD8-7E46-8D2C-B33701C7C6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249918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404A8C-6C8D-D97B-1B33-1FF4DA0850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DC4624D-4B1F-2831-F78F-6E7D77DC5D5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D0EAB85-A2D9-0B04-95FF-957A6EBF5A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887482-337B-0C49-8B44-90FE2531483D}" type="datetimeFigureOut">
              <a:rPr lang="en-US" smtClean="0"/>
              <a:t>4/1/26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F38157-9E12-7604-4108-BFC8DFDA72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12CA78-0063-B681-83A9-91E792713F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E3B367-EFD8-7E46-8D2C-B33701C7C6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122680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A7A8F4-9896-E1B3-FB85-B406480551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EAA1B1-ABB1-1FE7-7E24-99552756FC7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CE8B9EA-0804-3557-A8DB-E7AD2CE4A13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CD3C1BE-522D-AB35-135F-8B0B9A9447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887482-337B-0C49-8B44-90FE2531483D}" type="datetimeFigureOut">
              <a:rPr lang="en-US" smtClean="0"/>
              <a:t>4/1/26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F1406F8-8D5F-DED1-0FD4-FAF9358C6A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47E894C-4995-85C8-072A-F9190A7147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E3B367-EFD8-7E46-8D2C-B33701C7C6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453285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127DCD-E703-A4C2-BB9F-88521C4E7C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296A6F1-D94A-2C1E-127D-C78F97869BC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FF5B5D3-8A32-B4DA-C96B-7FE8EDDE9F2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49E48F5-E3C1-76F3-65DD-E326BD72A61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45C9CF7-2E2F-3EF7-41C2-1A8C107579A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553520B-FD72-F4D6-9E33-4FF46F291D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887482-337B-0C49-8B44-90FE2531483D}" type="datetimeFigureOut">
              <a:rPr lang="en-US" smtClean="0"/>
              <a:t>4/1/26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64B5B32-DE0A-3D8C-EC8F-39F70FB709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E9FC483-DCC9-0190-0C41-A87C115A23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E3B367-EFD8-7E46-8D2C-B33701C7C6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052488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C23715-9280-DC7D-BFFC-38D935D140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D16A1E6-6F8C-88B9-E5E9-CAC2640DA6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887482-337B-0C49-8B44-90FE2531483D}" type="datetimeFigureOut">
              <a:rPr lang="en-US" smtClean="0"/>
              <a:t>4/1/26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7F98206-BD80-AFC6-317B-DCC4F76D32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17FDF83-D75B-F0BF-6EA3-A2E6A430EA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E3B367-EFD8-7E46-8D2C-B33701C7C6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60360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503684D-5101-297D-6104-2CA96ED6D9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887482-337B-0C49-8B44-90FE2531483D}" type="datetimeFigureOut">
              <a:rPr lang="en-US" smtClean="0"/>
              <a:t>4/1/26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74B0C6F-DBE9-DCC4-82A1-E90151F2FD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95563AD-8718-3752-6D33-5E9B1CE939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E3B367-EFD8-7E46-8D2C-B33701C7C6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71089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3D29B1-01C2-3C9C-1EB4-01EC9AFC59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F78B5AA-E136-AFA0-C213-F3DD160E514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60D49B9-75FF-1DF4-2319-656E49DF869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AFD1598-6AE0-69B4-EC4A-9714727DC8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887482-337B-0C49-8B44-90FE2531483D}" type="datetimeFigureOut">
              <a:rPr lang="en-US" smtClean="0"/>
              <a:t>4/1/26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841E574-6DCC-8C0B-1253-30D61C781F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2AB22A3-CB57-9361-4281-C0166BF16A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E3B367-EFD8-7E46-8D2C-B33701C7C6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936769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102AF0-389D-7A88-214E-C1D9BA1B67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98A3311-D059-C611-3043-74DEDF8A4D2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0E41F16-48E3-3C09-EF4C-99A2C420289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EB009EA-467A-CA07-EBE6-583E57258A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887482-337B-0C49-8B44-90FE2531483D}" type="datetimeFigureOut">
              <a:rPr lang="en-US" smtClean="0"/>
              <a:t>4/1/26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3A19962-79FF-0B91-5926-FEE54B8189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0796FCE-F7BE-208E-2645-ED3D144F73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E3B367-EFD8-7E46-8D2C-B33701C7C6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398935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F73679-01F5-A072-965A-1C7D8EDAB0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B028CF3-B43F-BDD4-12B9-26BB6399326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9DB9A48-EF43-15DB-AE16-2F0BF37D83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887482-337B-0C49-8B44-90FE2531483D}" type="datetimeFigureOut">
              <a:rPr lang="en-US" smtClean="0"/>
              <a:t>4/1/26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480C31C-25EC-E3AE-67A7-FDF12AD57A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EF25424-C63C-6DB5-B5C5-30A3012951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E3B367-EFD8-7E46-8D2C-B33701C7C6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95795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DC2B524-8DE1-7862-6EA3-63EB21599D0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FAA6484-BB7C-B3C9-FF39-B4B93B30593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E7100C5-819F-506B-D214-4F18D96439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887482-337B-0C49-8B44-90FE2531483D}" type="datetimeFigureOut">
              <a:rPr lang="en-US" smtClean="0"/>
              <a:t>4/1/26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7C3F89-DB8D-DB23-BE25-F2AAA93622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BE85C5E-582A-1A04-F0A3-16FAA6672E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E3B367-EFD8-7E46-8D2C-B33701C7C6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407057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1857787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1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FDDAD6C-AB43-3429-CC77-7587D8D8E6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9BE734B-9CFC-2B6E-2322-2E18DBF538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13B226-8340-6F9D-550B-144E7218532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0887482-337B-0C49-8B44-90FE2531483D}" type="datetimeFigureOut">
              <a:rPr lang="en-US" smtClean="0"/>
              <a:t>4/1/26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60C7BA1-8F87-1B71-B4FF-36305363104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9F5E4E7-9EEE-A3FA-E13B-8B82229647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7E3B367-EFD8-7E46-8D2C-B33701C7C6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84365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9879321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</p:sldLayoutIdLst>
  <p:hf sldNum="0" hdr="0" ftr="0" dt="0"/>
  <p:txStyles>
    <p:titleStyle>
      <a:lvl1pPr algn="ctr" defTabSz="1219170" rtl="0" eaLnBrk="1" latinLnBrk="0" hangingPunct="1">
        <a:spcBef>
          <a:spcPct val="0"/>
        </a:spcBef>
        <a:buNone/>
        <a:defRPr sz="586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57189" indent="-457189" algn="l" defTabSz="1219170" rtl="0" eaLnBrk="1" latinLnBrk="0" hangingPunct="1">
        <a:spcBef>
          <a:spcPct val="20000"/>
        </a:spcBef>
        <a:buFont typeface="Arial" pitchFamily="34" charset="0"/>
        <a:buChar char="•"/>
        <a:defRPr sz="4267" kern="1200">
          <a:solidFill>
            <a:schemeClr val="tx1"/>
          </a:solidFill>
          <a:latin typeface="+mn-lt"/>
          <a:ea typeface="+mn-ea"/>
          <a:cs typeface="+mn-cs"/>
        </a:defRPr>
      </a:lvl1pPr>
      <a:lvl2pPr marL="990575" indent="-380990" algn="l" defTabSz="1219170" rtl="0" eaLnBrk="1" latinLnBrk="0" hangingPunct="1">
        <a:spcBef>
          <a:spcPct val="20000"/>
        </a:spcBef>
        <a:buFont typeface="Arial" pitchFamily="34" charset="0"/>
        <a:buChar char="–"/>
        <a:defRPr sz="3733" kern="1200">
          <a:solidFill>
            <a:schemeClr val="tx1"/>
          </a:solidFill>
          <a:latin typeface="+mn-lt"/>
          <a:ea typeface="+mn-ea"/>
          <a:cs typeface="+mn-cs"/>
        </a:defRPr>
      </a:lvl2pPr>
      <a:lvl3pPr marL="1523962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3pPr>
      <a:lvl4pPr marL="2133547" indent="-304792" algn="l" defTabSz="1219170" rtl="0" eaLnBrk="1" latinLnBrk="0" hangingPunct="1">
        <a:spcBef>
          <a:spcPct val="20000"/>
        </a:spcBef>
        <a:buFont typeface="Arial" pitchFamily="34" charset="0"/>
        <a:buChar char="–"/>
        <a:defRPr sz="2667" kern="1200">
          <a:solidFill>
            <a:schemeClr val="tx1"/>
          </a:solidFill>
          <a:latin typeface="+mn-lt"/>
          <a:ea typeface="+mn-ea"/>
          <a:cs typeface="+mn-cs"/>
        </a:defRPr>
      </a:lvl4pPr>
      <a:lvl5pPr marL="2743131" indent="-304792" algn="l" defTabSz="1219170" rtl="0" eaLnBrk="1" latinLnBrk="0" hangingPunct="1">
        <a:spcBef>
          <a:spcPct val="20000"/>
        </a:spcBef>
        <a:buFont typeface="Arial" pitchFamily="34" charset="0"/>
        <a:buChar char="»"/>
        <a:defRPr sz="2667" kern="1200">
          <a:solidFill>
            <a:schemeClr val="tx1"/>
          </a:solidFill>
          <a:latin typeface="+mn-lt"/>
          <a:ea typeface="+mn-ea"/>
          <a:cs typeface="+mn-cs"/>
        </a:defRPr>
      </a:lvl5pPr>
      <a:lvl6pPr marL="3352716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6pPr>
      <a:lvl7pPr marL="3962301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7pPr>
      <a:lvl8pPr marL="4571886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8pPr>
      <a:lvl9pPr marL="5181470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85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7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75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33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92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50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093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678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hyperlink" Target="https://github.com/davidderoure/wolfson" TargetMode="External"/><Relationship Id="rId7" Type="http://schemas.openxmlformats.org/officeDocument/2006/relationships/image" Target="../media/image8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6.jpeg"/><Relationship Id="rId4" Type="http://schemas.openxmlformats.org/officeDocument/2006/relationships/image" Target="../media/image5.png"/><Relationship Id="rId9" Type="http://schemas.openxmlformats.org/officeDocument/2006/relationships/image" Target="../media/image1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F8A699-8710-D357-00D5-77458DA818B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9326"/>
            <a:ext cx="9144000" cy="2563187"/>
          </a:xfrm>
        </p:spPr>
        <p:txBody>
          <a:bodyPr>
            <a:normAutofit/>
          </a:bodyPr>
          <a:lstStyle/>
          <a:p>
            <a:pPr>
              <a:lnSpc>
                <a:spcPct val="110000"/>
              </a:lnSpc>
            </a:pPr>
            <a:r>
              <a:rPr lang="en-GB" sz="4800" dirty="0">
                <a:latin typeface="Optima" panose="02000503060000020004" pitchFamily="2" charset="0"/>
              </a:rPr>
              <a:t>P</a:t>
            </a:r>
            <a:r>
              <a:rPr lang="en-GB" sz="4400" dirty="0">
                <a:latin typeface="Optima" panose="02000503060000020004" pitchFamily="2" charset="0"/>
              </a:rPr>
              <a:t>ost-bop modal-tonal</a:t>
            </a:r>
            <a:br>
              <a:rPr lang="en-GB" sz="4400" dirty="0">
                <a:latin typeface="Optima" panose="02000503060000020004" pitchFamily="2" charset="0"/>
              </a:rPr>
            </a:br>
            <a:r>
              <a:rPr lang="en-GB" sz="4400" dirty="0">
                <a:latin typeface="Optima" panose="02000503060000020004" pitchFamily="2" charset="0"/>
              </a:rPr>
              <a:t>AI jazz improvisation</a:t>
            </a:r>
            <a:br>
              <a:rPr lang="en-GB" sz="4400" dirty="0">
                <a:latin typeface="Optima" panose="02000503060000020004" pitchFamily="2" charset="0"/>
              </a:rPr>
            </a:br>
            <a:br>
              <a:rPr lang="en-GB" sz="1200" dirty="0">
                <a:latin typeface="Optima" panose="02000503060000020004" pitchFamily="2" charset="0"/>
              </a:rPr>
            </a:br>
            <a:r>
              <a:rPr lang="en-GB" sz="3200" dirty="0">
                <a:latin typeface="Optima" panose="02000503060000020004" pitchFamily="2" charset="0"/>
              </a:rPr>
              <a:t>Program(me) Notes</a:t>
            </a:r>
            <a:endParaRPr lang="en-US" dirty="0">
              <a:latin typeface="Optima" panose="02000503060000020004" pitchFamily="2" charset="0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BE8886A-E50C-161E-3C72-36B38A6E47D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529541"/>
            <a:ext cx="9144000" cy="1082040"/>
          </a:xfrm>
        </p:spPr>
        <p:txBody>
          <a:bodyPr>
            <a:normAutofit/>
          </a:bodyPr>
          <a:lstStyle/>
          <a:p>
            <a:r>
              <a:rPr lang="en-US" sz="2000" dirty="0">
                <a:latin typeface="Optima" panose="02000503060000020004" pitchFamily="2" charset="0"/>
              </a:rPr>
              <a:t>David De Roure</a:t>
            </a:r>
          </a:p>
          <a:p>
            <a:endParaRPr lang="en-US" sz="100" dirty="0">
              <a:latin typeface="Optima" panose="02000503060000020004" pitchFamily="2" charset="0"/>
            </a:endParaRPr>
          </a:p>
          <a:p>
            <a:r>
              <a:rPr lang="en-US" sz="2000" dirty="0" err="1">
                <a:latin typeface="Optima" panose="02000503060000020004" pitchFamily="2" charset="0"/>
              </a:rPr>
              <a:t>david.deroure@wolfson.ox.ac.uk</a:t>
            </a:r>
            <a:endParaRPr lang="en-US" sz="2000" dirty="0">
              <a:latin typeface="Optima" panose="02000503060000020004" pitchFamily="2" charset="0"/>
            </a:endParaRPr>
          </a:p>
        </p:txBody>
      </p:sp>
      <p:pic>
        <p:nvPicPr>
          <p:cNvPr id="5" name="Picture 4" descr="Home - Wolfson College">
            <a:extLst>
              <a:ext uri="{FF2B5EF4-FFF2-40B4-BE49-F238E27FC236}">
                <a16:creationId xmlns:a16="http://schemas.microsoft.com/office/drawing/2014/main" id="{A7C82090-5E62-E1A6-E4B4-C8D4DACEC1D4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61606" y="4643512"/>
            <a:ext cx="1668788" cy="1668788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1571465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1CC88F-AE6F-DB2A-FA04-F7000EBF67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05753"/>
          </a:xfrm>
        </p:spPr>
        <p:txBody>
          <a:bodyPr/>
          <a:lstStyle/>
          <a:p>
            <a:r>
              <a:rPr lang="en-US" dirty="0">
                <a:latin typeface="Optima" panose="02000503060000020004" pitchFamily="2" charset="0"/>
              </a:rPr>
              <a:t>The Ambition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99520F-7551-5696-EDB0-7C99BDEC231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3902"/>
            <a:ext cx="10078844" cy="5018049"/>
          </a:xfrm>
        </p:spPr>
        <p:txBody>
          <a:bodyPr>
            <a:normAutofit/>
          </a:bodyPr>
          <a:lstStyle/>
          <a:p>
            <a:r>
              <a:rPr lang="en-GB" sz="2400" dirty="0">
                <a:latin typeface="Palatino Linotype" panose="02040502050505030304" pitchFamily="18" charset="0"/>
              </a:rPr>
              <a:t>Back in the late 1900s I was part of a jazz workshop helping people learn to play jazz.</a:t>
            </a:r>
          </a:p>
          <a:p>
            <a:r>
              <a:rPr lang="en-GB" sz="2400" dirty="0">
                <a:latin typeface="Palatino Linotype" panose="02040502050505030304" pitchFamily="18" charset="0"/>
              </a:rPr>
              <a:t>﻿﻿One of the exercises was called "slick licks" - we would sit in a circle and “trade licks” on our instruments.</a:t>
            </a:r>
          </a:p>
          <a:p>
            <a:r>
              <a:rPr lang="en-GB" sz="2400" dirty="0">
                <a:latin typeface="Palatino Linotype" panose="02040502050505030304" pitchFamily="18" charset="0"/>
              </a:rPr>
              <a:t>A big barrier for jazz learners can be finding people to play with.</a:t>
            </a:r>
          </a:p>
          <a:p>
            <a:r>
              <a:rPr lang="en-GB" sz="2400" dirty="0">
                <a:latin typeface="Palatino Linotype" panose="02040502050505030304" pitchFamily="18" charset="0"/>
              </a:rPr>
              <a:t>﻿﻿Q. Can I build a software system to enable people to practice their slick licks? And specifically… can a bass player use this?!</a:t>
            </a:r>
          </a:p>
          <a:p>
            <a:r>
              <a:rPr lang="en-GB" sz="2400" dirty="0">
                <a:latin typeface="Palatino Linotype" panose="02040502050505030304" pitchFamily="18" charset="0"/>
              </a:rPr>
              <a:t>It should listen and respond, sometimes lead, be realistic enough to be useful. </a:t>
            </a:r>
          </a:p>
          <a:p>
            <a:r>
              <a:rPr lang="en-GB" sz="2400" dirty="0">
                <a:latin typeface="Palatino Linotype" panose="02040502050505030304" pitchFamily="18" charset="0"/>
              </a:rPr>
              <a:t>NB This interactive “robot”</a:t>
            </a:r>
            <a:r>
              <a:rPr lang="en-GB" sz="2400" i="1" dirty="0">
                <a:latin typeface="Palatino Linotype" panose="02040502050505030304" pitchFamily="18" charset="0"/>
              </a:rPr>
              <a:t> </a:t>
            </a:r>
            <a:r>
              <a:rPr lang="en-GB" sz="2400" dirty="0">
                <a:latin typeface="Palatino Linotype" panose="02040502050505030304" pitchFamily="18" charset="0"/>
              </a:rPr>
              <a:t>is</a:t>
            </a:r>
            <a:r>
              <a:rPr lang="en-GB" sz="2400" i="1" dirty="0">
                <a:latin typeface="Palatino Linotype" panose="02040502050505030304" pitchFamily="18" charset="0"/>
              </a:rPr>
              <a:t> </a:t>
            </a:r>
            <a:r>
              <a:rPr lang="en-GB" sz="2400" dirty="0">
                <a:latin typeface="Palatino Linotype" panose="02040502050505030304" pitchFamily="18" charset="0"/>
              </a:rPr>
              <a:t>designed for practice purposes, and it's not intended to replace a human player. Human interaction was key to slick licks!</a:t>
            </a:r>
          </a:p>
          <a:p>
            <a:endParaRPr lang="en-US" sz="2400" dirty="0">
              <a:latin typeface="Palatino Linotype" panose="0204050205050503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4782406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61ABF3-8A46-2D39-4B69-7D6539198B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0F8CE5-E8E0-C4B1-5023-E87C6B69A9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05753"/>
          </a:xfrm>
        </p:spPr>
        <p:txBody>
          <a:bodyPr/>
          <a:lstStyle/>
          <a:p>
            <a:r>
              <a:rPr lang="en-US" dirty="0">
                <a:latin typeface="Optima" panose="02000503060000020004" pitchFamily="2" charset="0"/>
              </a:rPr>
              <a:t>All the things I have been</a:t>
            </a:r>
            <a:r>
              <a:rPr lang="en-US" baseline="30000" dirty="0">
                <a:latin typeface="Optima" panose="02000503060000020004" pitchFamily="2" charset="0"/>
              </a:rPr>
              <a:t>*</a:t>
            </a:r>
            <a:r>
              <a:rPr lang="en-US" dirty="0">
                <a:latin typeface="Optima" panose="02000503060000020004" pitchFamily="2" charset="0"/>
              </a:rPr>
              <a:t> thinking about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CBAA6F-DAF5-13CA-340F-769114251D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3902"/>
            <a:ext cx="10515600" cy="4783061"/>
          </a:xfrm>
        </p:spPr>
        <p:txBody>
          <a:bodyPr>
            <a:normAutofit/>
          </a:bodyPr>
          <a:lstStyle/>
          <a:p>
            <a:endParaRPr lang="en-GB" dirty="0"/>
          </a:p>
          <a:p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DBFBBEE-44A6-7FC5-BA96-97C3F7AD7DA8}"/>
              </a:ext>
            </a:extLst>
          </p:cNvPr>
          <p:cNvSpPr txBox="1"/>
          <p:nvPr/>
        </p:nvSpPr>
        <p:spPr>
          <a:xfrm>
            <a:off x="838200" y="1393902"/>
            <a:ext cx="3954966" cy="454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lang="en-GB" sz="2400" dirty="0">
                <a:latin typeface="Palatino Linotype" panose="02040502050505030304" pitchFamily="18" charset="0"/>
              </a:rPr>
              <a:t>Phrase analysis</a:t>
            </a:r>
          </a:p>
          <a:p>
            <a:pPr>
              <a:lnSpc>
                <a:spcPct val="110000"/>
              </a:lnSpc>
            </a:pPr>
            <a:r>
              <a:rPr lang="en-GB" sz="2400" dirty="0">
                <a:latin typeface="Palatino Linotype" panose="02040502050505030304" pitchFamily="18" charset="0"/>
              </a:rPr>
              <a:t>Question and answer</a:t>
            </a:r>
          </a:p>
          <a:p>
            <a:pPr>
              <a:lnSpc>
                <a:spcPct val="110000"/>
              </a:lnSpc>
            </a:pPr>
            <a:r>
              <a:rPr lang="en-GB" sz="2400" dirty="0">
                <a:latin typeface="Palatino Linotype" panose="02040502050505030304" pitchFamily="18" charset="0"/>
              </a:rPr>
              <a:t>Leadership &amp; role swapping</a:t>
            </a:r>
          </a:p>
          <a:p>
            <a:pPr>
              <a:lnSpc>
                <a:spcPct val="110000"/>
              </a:lnSpc>
            </a:pPr>
            <a:r>
              <a:rPr lang="en-GB" sz="2400" dirty="0">
                <a:latin typeface="Palatino Linotype" panose="02040502050505030304" pitchFamily="18" charset="0"/>
              </a:rPr>
              <a:t>Contour steering </a:t>
            </a:r>
          </a:p>
          <a:p>
            <a:pPr>
              <a:lnSpc>
                <a:spcPct val="110000"/>
              </a:lnSpc>
            </a:pPr>
            <a:r>
              <a:rPr lang="en-GB" sz="2400" dirty="0">
                <a:latin typeface="Palatino Linotype" panose="02040502050505030304" pitchFamily="18" charset="0"/>
              </a:rPr>
              <a:t>Chord conditioning </a:t>
            </a:r>
          </a:p>
          <a:p>
            <a:pPr>
              <a:lnSpc>
                <a:spcPct val="110000"/>
              </a:lnSpc>
            </a:pPr>
            <a:r>
              <a:rPr lang="en-GB" sz="2400" dirty="0">
                <a:latin typeface="Palatino Linotype" panose="02040502050505030304" pitchFamily="18" charset="0"/>
              </a:rPr>
              <a:t>Harmonic modes </a:t>
            </a:r>
          </a:p>
          <a:p>
            <a:pPr>
              <a:lnSpc>
                <a:spcPct val="110000"/>
              </a:lnSpc>
            </a:pPr>
            <a:r>
              <a:rPr lang="en-GB" sz="2400" dirty="0">
                <a:latin typeface="Palatino Linotype" panose="02040502050505030304" pitchFamily="18" charset="0"/>
              </a:rPr>
              <a:t>Scale pitch bias</a:t>
            </a:r>
          </a:p>
          <a:p>
            <a:pPr>
              <a:lnSpc>
                <a:spcPct val="110000"/>
              </a:lnSpc>
            </a:pPr>
            <a:r>
              <a:rPr lang="en-GB" sz="2400" dirty="0">
                <a:latin typeface="Palatino Linotype" panose="02040502050505030304" pitchFamily="18" charset="0"/>
              </a:rPr>
              <a:t>Pitch range</a:t>
            </a:r>
          </a:p>
          <a:p>
            <a:pPr>
              <a:lnSpc>
                <a:spcPct val="110000"/>
              </a:lnSpc>
            </a:pPr>
            <a:r>
              <a:rPr lang="en-GB" sz="2400" dirty="0">
                <a:latin typeface="Palatino Linotype" panose="02040502050505030304" pitchFamily="18" charset="0"/>
              </a:rPr>
              <a:t>Swing / triplet feel</a:t>
            </a:r>
          </a:p>
          <a:p>
            <a:pPr>
              <a:lnSpc>
                <a:spcPct val="110000"/>
              </a:lnSpc>
            </a:pPr>
            <a:r>
              <a:rPr lang="en-GB" sz="2400" dirty="0">
                <a:latin typeface="Palatino Linotype" panose="02040502050505030304" pitchFamily="18" charset="0"/>
              </a:rPr>
              <a:t>Live tempo tracking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6B96428-37ED-DE63-E2D0-FD373F93A297}"/>
              </a:ext>
            </a:extLst>
          </p:cNvPr>
          <p:cNvSpPr txBox="1"/>
          <p:nvPr/>
        </p:nvSpPr>
        <p:spPr>
          <a:xfrm>
            <a:off x="4330267" y="1393902"/>
            <a:ext cx="3954966" cy="41352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lang="en-GB" sz="2400" dirty="0">
                <a:latin typeface="Palatino Linotype" panose="02040502050505030304" pitchFamily="18" charset="0"/>
              </a:rPr>
              <a:t>Dynamics</a:t>
            </a:r>
          </a:p>
          <a:p>
            <a:pPr>
              <a:lnSpc>
                <a:spcPct val="110000"/>
              </a:lnSpc>
            </a:pPr>
            <a:r>
              <a:rPr lang="en-GB" sz="2400" dirty="0">
                <a:latin typeface="Palatino Linotype" panose="02040502050505030304" pitchFamily="18" charset="0"/>
              </a:rPr>
              <a:t>Articulation</a:t>
            </a:r>
          </a:p>
          <a:p>
            <a:pPr>
              <a:lnSpc>
                <a:spcPct val="110000"/>
              </a:lnSpc>
            </a:pPr>
            <a:r>
              <a:rPr lang="en-GB" sz="2400" dirty="0">
                <a:latin typeface="Palatino Linotype" panose="02040502050505030304" pitchFamily="18" charset="0"/>
              </a:rPr>
              <a:t>Bass pitch-class tracking</a:t>
            </a:r>
          </a:p>
          <a:p>
            <a:pPr>
              <a:lnSpc>
                <a:spcPct val="110000"/>
              </a:lnSpc>
            </a:pPr>
            <a:r>
              <a:rPr lang="en-GB" sz="2400" dirty="0">
                <a:latin typeface="Palatino Linotype" panose="02040502050505030304" pitchFamily="18" charset="0"/>
              </a:rPr>
              <a:t>Energy arc</a:t>
            </a:r>
          </a:p>
          <a:p>
            <a:pPr>
              <a:lnSpc>
                <a:spcPct val="110000"/>
              </a:lnSpc>
            </a:pPr>
            <a:r>
              <a:rPr lang="en-GB" sz="2400" dirty="0">
                <a:latin typeface="Palatino Linotype" panose="02040502050505030304" pitchFamily="18" charset="0"/>
              </a:rPr>
              <a:t>Motivic development</a:t>
            </a:r>
          </a:p>
          <a:p>
            <a:pPr>
              <a:lnSpc>
                <a:spcPct val="110000"/>
              </a:lnSpc>
            </a:pPr>
            <a:r>
              <a:rPr lang="en-GB" sz="2400" dirty="0">
                <a:latin typeface="Palatino Linotype" panose="02040502050505030304" pitchFamily="18" charset="0"/>
              </a:rPr>
              <a:t>Lyrical motif re-use </a:t>
            </a:r>
          </a:p>
          <a:p>
            <a:pPr>
              <a:lnSpc>
                <a:spcPct val="110000"/>
              </a:lnSpc>
            </a:pPr>
            <a:r>
              <a:rPr lang="en-GB" sz="2400" dirty="0">
                <a:latin typeface="Palatino Linotype" panose="02040502050505030304" pitchFamily="18" charset="0"/>
              </a:rPr>
              <a:t>Voice leading</a:t>
            </a:r>
          </a:p>
          <a:p>
            <a:pPr>
              <a:lnSpc>
                <a:spcPct val="110000"/>
              </a:lnSpc>
            </a:pPr>
            <a:r>
              <a:rPr lang="en-GB" sz="2400" dirty="0">
                <a:latin typeface="Palatino Linotype" panose="02040502050505030304" pitchFamily="18" charset="0"/>
              </a:rPr>
              <a:t>Modal leap bonus </a:t>
            </a:r>
          </a:p>
          <a:p>
            <a:pPr>
              <a:lnSpc>
                <a:spcPct val="110000"/>
              </a:lnSpc>
            </a:pPr>
            <a:r>
              <a:rPr lang="en-GB" sz="2400" dirty="0">
                <a:latin typeface="Palatino Linotype" panose="02040502050505030304" pitchFamily="18" charset="0"/>
              </a:rPr>
              <a:t>Stochastic thinning </a:t>
            </a:r>
          </a:p>
          <a:p>
            <a:pPr>
              <a:lnSpc>
                <a:spcPct val="110000"/>
              </a:lnSpc>
            </a:pPr>
            <a:r>
              <a:rPr lang="en-GB" sz="2400" dirty="0">
                <a:latin typeface="Palatino Linotype" panose="02040502050505030304" pitchFamily="18" charset="0"/>
              </a:rPr>
              <a:t>Phrase breathing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0B9EEF0-8FF6-3D2F-92C2-1A7DED7D44B1}"/>
              </a:ext>
            </a:extLst>
          </p:cNvPr>
          <p:cNvSpPr txBox="1"/>
          <p:nvPr/>
        </p:nvSpPr>
        <p:spPr>
          <a:xfrm>
            <a:off x="7978697" y="1393902"/>
            <a:ext cx="3954966" cy="454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lang="en-GB" sz="2400" dirty="0">
                <a:latin typeface="Palatino Linotype" panose="02040502050505030304" pitchFamily="18" charset="0"/>
              </a:rPr>
              <a:t>Singable duration bias</a:t>
            </a:r>
          </a:p>
          <a:p>
            <a:pPr>
              <a:lnSpc>
                <a:spcPct val="110000"/>
              </a:lnSpc>
            </a:pPr>
            <a:r>
              <a:rPr lang="en-GB" sz="2400" dirty="0">
                <a:latin typeface="Palatino Linotype" panose="02040502050505030304" pitchFamily="18" charset="0"/>
              </a:rPr>
              <a:t>Rhythmic density </a:t>
            </a:r>
          </a:p>
          <a:p>
            <a:pPr>
              <a:lnSpc>
                <a:spcPct val="110000"/>
              </a:lnSpc>
            </a:pPr>
            <a:r>
              <a:rPr lang="en-GB" sz="2400" dirty="0">
                <a:latin typeface="Palatino Linotype" panose="02040502050505030304" pitchFamily="18" charset="0"/>
              </a:rPr>
              <a:t>Rhythmic complementarity</a:t>
            </a:r>
          </a:p>
          <a:p>
            <a:pPr>
              <a:lnSpc>
                <a:spcPct val="110000"/>
              </a:lnSpc>
            </a:pPr>
            <a:r>
              <a:rPr lang="en-GB" sz="2400" dirty="0">
                <a:latin typeface="Palatino Linotype" panose="02040502050505030304" pitchFamily="18" charset="0"/>
              </a:rPr>
              <a:t>Register contrast </a:t>
            </a:r>
          </a:p>
          <a:p>
            <a:pPr>
              <a:lnSpc>
                <a:spcPct val="110000"/>
              </a:lnSpc>
            </a:pPr>
            <a:r>
              <a:rPr lang="en-GB" sz="2400" dirty="0">
                <a:latin typeface="Palatino Linotype" panose="02040502050505030304" pitchFamily="18" charset="0"/>
              </a:rPr>
              <a:t>Phrase length control</a:t>
            </a:r>
          </a:p>
          <a:p>
            <a:pPr>
              <a:lnSpc>
                <a:spcPct val="110000"/>
              </a:lnSpc>
            </a:pPr>
            <a:r>
              <a:rPr lang="en-GB" sz="2400" dirty="0">
                <a:latin typeface="Palatino Linotype" panose="02040502050505030304" pitchFamily="18" charset="0"/>
              </a:rPr>
              <a:t>Beat-matching / trading bars </a:t>
            </a:r>
          </a:p>
          <a:p>
            <a:pPr>
              <a:lnSpc>
                <a:spcPct val="110000"/>
              </a:lnSpc>
            </a:pPr>
            <a:r>
              <a:rPr lang="en-GB" sz="2400" dirty="0">
                <a:latin typeface="Palatino Linotype" panose="02040502050505030304" pitchFamily="18" charset="0"/>
              </a:rPr>
              <a:t>Ostinato</a:t>
            </a:r>
          </a:p>
          <a:p>
            <a:pPr>
              <a:lnSpc>
                <a:spcPct val="110000"/>
              </a:lnSpc>
            </a:pPr>
            <a:r>
              <a:rPr lang="en-GB" sz="2400" dirty="0">
                <a:latin typeface="Palatino Linotype" panose="02040502050505030304" pitchFamily="18" charset="0"/>
              </a:rPr>
              <a:t>Proactive mode </a:t>
            </a:r>
          </a:p>
          <a:p>
            <a:pPr>
              <a:lnSpc>
                <a:spcPct val="110000"/>
              </a:lnSpc>
            </a:pPr>
            <a:r>
              <a:rPr lang="en-GB" sz="2400" dirty="0">
                <a:latin typeface="Palatino Linotype" panose="02040502050505030304" pitchFamily="18" charset="0"/>
              </a:rPr>
              <a:t>Arc timing</a:t>
            </a:r>
          </a:p>
          <a:p>
            <a:pPr>
              <a:lnSpc>
                <a:spcPct val="110000"/>
              </a:lnSpc>
            </a:pPr>
            <a:r>
              <a:rPr lang="en-GB" sz="2400" dirty="0">
                <a:latin typeface="Palatino Linotype" panose="02040502050505030304" pitchFamily="18" charset="0"/>
              </a:rPr>
              <a:t>Phrase-shape dynamics</a:t>
            </a:r>
            <a:endParaRPr lang="en-US" sz="2800" dirty="0">
              <a:latin typeface="Palatino Linotype" panose="02040502050505030304" pitchFamily="18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C8A5D39-3627-CFE9-597E-D3C8505EA7A7}"/>
              </a:ext>
            </a:extLst>
          </p:cNvPr>
          <p:cNvSpPr txBox="1"/>
          <p:nvPr/>
        </p:nvSpPr>
        <p:spPr>
          <a:xfrm>
            <a:off x="692243" y="6176963"/>
            <a:ext cx="336395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i="1" dirty="0">
                <a:latin typeface="Palatino Linotype" panose="02040502050505030304" pitchFamily="18" charset="0"/>
              </a:rPr>
              <a:t>* Good name for a song?</a:t>
            </a:r>
          </a:p>
        </p:txBody>
      </p:sp>
    </p:spTree>
    <p:extLst>
      <p:ext uri="{BB962C8B-B14F-4D97-AF65-F5344CB8AC3E}">
        <p14:creationId xmlns:p14="http://schemas.microsoft.com/office/powerpoint/2010/main" val="129146439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2D6E05-FA9B-095E-4E7D-E2C69EEF33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BF58DA-C53E-E2A4-D95F-B35F61C1BB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05753"/>
          </a:xfrm>
        </p:spPr>
        <p:txBody>
          <a:bodyPr/>
          <a:lstStyle/>
          <a:p>
            <a:r>
              <a:rPr lang="en-US" dirty="0">
                <a:latin typeface="Optima" panose="02000503060000020004" pitchFamily="2" charset="0"/>
              </a:rPr>
              <a:t>Fly me to the moon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1B6C1C-8CCE-241D-FE04-37A75C51FD1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393902"/>
            <a:ext cx="5938520" cy="4828478"/>
          </a:xfrm>
        </p:spPr>
        <p:txBody>
          <a:bodyPr>
            <a:normAutofit lnSpcReduction="10000"/>
          </a:bodyPr>
          <a:lstStyle/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en-GB" sz="2400" b="1" dirty="0">
                <a:latin typeface="Palatino Linotype" panose="02040502050505030304" pitchFamily="18" charset="0"/>
              </a:rPr>
              <a:t>5 Giant steps in the arc:</a:t>
            </a:r>
            <a:br>
              <a:rPr lang="en-GB" sz="2400" b="1" dirty="0">
                <a:latin typeface="Palatino Linotype" panose="02040502050505030304" pitchFamily="18" charset="0"/>
              </a:rPr>
            </a:br>
            <a:endParaRPr lang="en-GB" sz="1200" b="1" dirty="0">
              <a:latin typeface="Palatino Linotype" panose="02040502050505030304" pitchFamily="18" charset="0"/>
            </a:endParaRPr>
          </a:p>
          <a:p>
            <a:pPr marL="514350" indent="-514350">
              <a:lnSpc>
                <a:spcPct val="120000"/>
              </a:lnSpc>
              <a:spcBef>
                <a:spcPts val="0"/>
              </a:spcBef>
              <a:buFont typeface="+mj-lt"/>
              <a:buAutoNum type="arabicPeriod"/>
            </a:pPr>
            <a:r>
              <a:rPr lang="en-GB" sz="2400" b="1" dirty="0">
                <a:latin typeface="Palatino Linotype" panose="02040502050505030304" pitchFamily="18" charset="0"/>
              </a:rPr>
              <a:t>Sparse</a:t>
            </a:r>
          </a:p>
          <a:p>
            <a:pPr lvl="1">
              <a:lnSpc>
                <a:spcPct val="120000"/>
              </a:lnSpc>
              <a:spcBef>
                <a:spcPts val="0"/>
              </a:spcBef>
            </a:pPr>
            <a:r>
              <a:rPr lang="en-GB" sz="2200" dirty="0">
                <a:latin typeface="Palatino Linotype" panose="02040502050505030304" pitchFamily="18" charset="0"/>
              </a:rPr>
              <a:t>Open, sustained, establish motifs slowly</a:t>
            </a:r>
          </a:p>
          <a:p>
            <a:pPr marL="514350" indent="-514350">
              <a:lnSpc>
                <a:spcPct val="120000"/>
              </a:lnSpc>
              <a:spcBef>
                <a:spcPts val="0"/>
              </a:spcBef>
              <a:buFont typeface="+mj-lt"/>
              <a:buAutoNum type="arabicPeriod"/>
            </a:pPr>
            <a:r>
              <a:rPr lang="en-GB" sz="2400" b="1" dirty="0">
                <a:latin typeface="Palatino Linotype" panose="02040502050505030304" pitchFamily="18" charset="0"/>
              </a:rPr>
              <a:t>Building</a:t>
            </a:r>
          </a:p>
          <a:p>
            <a:pPr lvl="1">
              <a:lnSpc>
                <a:spcPct val="120000"/>
              </a:lnSpc>
              <a:spcBef>
                <a:spcPts val="0"/>
              </a:spcBef>
            </a:pPr>
            <a:r>
              <a:rPr lang="en-GB" sz="2200" dirty="0">
                <a:latin typeface="Palatino Linotype" panose="02040502050505030304" pitchFamily="18" charset="0"/>
              </a:rPr>
              <a:t>Mixed, lines begin to flow</a:t>
            </a:r>
          </a:p>
          <a:p>
            <a:pPr marL="514350" indent="-514350">
              <a:lnSpc>
                <a:spcPct val="120000"/>
              </a:lnSpc>
              <a:spcBef>
                <a:spcPts val="0"/>
              </a:spcBef>
              <a:buFont typeface="+mj-lt"/>
              <a:buAutoNum type="arabicPeriod"/>
            </a:pPr>
            <a:r>
              <a:rPr lang="en-GB" sz="2400" b="1" dirty="0">
                <a:latin typeface="Palatino Linotype" panose="02040502050505030304" pitchFamily="18" charset="0"/>
              </a:rPr>
              <a:t>Peak</a:t>
            </a:r>
          </a:p>
          <a:p>
            <a:pPr lvl="1">
              <a:lnSpc>
                <a:spcPct val="120000"/>
              </a:lnSpc>
              <a:spcBef>
                <a:spcPts val="0"/>
              </a:spcBef>
            </a:pPr>
            <a:r>
              <a:rPr lang="en-GB" sz="2200" dirty="0">
                <a:latin typeface="Palatino Linotype" panose="02040502050505030304" pitchFamily="18" charset="0"/>
              </a:rPr>
              <a:t>Fast, active, max rhythmic intensity</a:t>
            </a:r>
          </a:p>
          <a:p>
            <a:pPr marL="514350" indent="-514350">
              <a:lnSpc>
                <a:spcPct val="120000"/>
              </a:lnSpc>
              <a:spcBef>
                <a:spcPts val="0"/>
              </a:spcBef>
              <a:buFont typeface="+mj-lt"/>
              <a:buAutoNum type="arabicPeriod"/>
            </a:pPr>
            <a:r>
              <a:rPr lang="en-GB" sz="2400" b="1" dirty="0">
                <a:latin typeface="Palatino Linotype" panose="02040502050505030304" pitchFamily="18" charset="0"/>
              </a:rPr>
              <a:t>Recapitulation</a:t>
            </a:r>
          </a:p>
          <a:p>
            <a:pPr lvl="1">
              <a:lnSpc>
                <a:spcPct val="120000"/>
              </a:lnSpc>
              <a:spcBef>
                <a:spcPts val="0"/>
              </a:spcBef>
            </a:pPr>
            <a:r>
              <a:rPr lang="en-GB" sz="2200" dirty="0">
                <a:latin typeface="Palatino Linotype" panose="02040502050505030304" pitchFamily="18" charset="0"/>
              </a:rPr>
              <a:t>Lyrical return, recall themes with space</a:t>
            </a:r>
          </a:p>
          <a:p>
            <a:pPr marL="514350" indent="-514350">
              <a:lnSpc>
                <a:spcPct val="120000"/>
              </a:lnSpc>
              <a:spcBef>
                <a:spcPts val="0"/>
              </a:spcBef>
              <a:buFont typeface="+mj-lt"/>
              <a:buAutoNum type="arabicPeriod"/>
            </a:pPr>
            <a:r>
              <a:rPr lang="en-GB" sz="2400" b="1" dirty="0">
                <a:latin typeface="Palatino Linotype" panose="02040502050505030304" pitchFamily="18" charset="0"/>
              </a:rPr>
              <a:t>Resolution</a:t>
            </a:r>
          </a:p>
          <a:p>
            <a:pPr lvl="1">
              <a:lnSpc>
                <a:spcPct val="120000"/>
              </a:lnSpc>
              <a:spcBef>
                <a:spcPts val="0"/>
              </a:spcBef>
            </a:pPr>
            <a:r>
              <a:rPr lang="en-GB" sz="2200" dirty="0">
                <a:latin typeface="Palatino Linotype" panose="02040502050505030304" pitchFamily="18" charset="0"/>
              </a:rPr>
              <a:t>Slowest, long tones, fading out</a:t>
            </a:r>
          </a:p>
          <a:p>
            <a:pPr>
              <a:lnSpc>
                <a:spcPct val="120000"/>
              </a:lnSpc>
              <a:spcBef>
                <a:spcPts val="0"/>
              </a:spcBef>
            </a:pPr>
            <a:endParaRPr lang="en-US" sz="2400" dirty="0">
              <a:latin typeface="Palatino Linotype" panose="02040502050505030304" pitchFamily="18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2647FFC-DAFE-7E3F-4130-FD88E7EAFE7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5307" y="1170878"/>
            <a:ext cx="4263737" cy="3746123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5AB3EBC4-F166-607D-B1D4-5664B1F69E01}"/>
              </a:ext>
            </a:extLst>
          </p:cNvPr>
          <p:cNvSpPr txBox="1"/>
          <p:nvPr/>
        </p:nvSpPr>
        <p:spPr>
          <a:xfrm>
            <a:off x="7495306" y="5353422"/>
            <a:ext cx="4263737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200" b="1" dirty="0" err="1"/>
              <a:t>wolfson.numbersintonotes.net</a:t>
            </a:r>
            <a:endParaRPr lang="en-US" sz="2200" b="1" dirty="0"/>
          </a:p>
        </p:txBody>
      </p:sp>
    </p:spTree>
    <p:extLst>
      <p:ext uri="{BB962C8B-B14F-4D97-AF65-F5344CB8AC3E}">
        <p14:creationId xmlns:p14="http://schemas.microsoft.com/office/powerpoint/2010/main" val="208152180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A4156B-7C53-A98E-A12C-E6740C138E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B1D851-7C60-ACEB-5BC2-3F020AB5E0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05753"/>
          </a:xfrm>
        </p:spPr>
        <p:txBody>
          <a:bodyPr/>
          <a:lstStyle/>
          <a:p>
            <a:r>
              <a:rPr lang="en-US" dirty="0">
                <a:latin typeface="Garamond" panose="02020404030301010803" pitchFamily="18" charset="0"/>
              </a:rPr>
              <a:t>Sentimental journey</a:t>
            </a:r>
            <a:endParaRPr lang="en-US" baseline="30000" dirty="0">
              <a:latin typeface="Garamond" panose="02020404030301010803" pitchFamily="18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1E25AC-6F63-9883-F3FF-5941FD625AA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74771"/>
            <a:ext cx="10078844" cy="5018049"/>
          </a:xfrm>
        </p:spPr>
        <p:txBody>
          <a:bodyPr>
            <a:normAutofit/>
          </a:bodyPr>
          <a:lstStyle/>
          <a:p>
            <a:pPr marL="0" indent="0">
              <a:lnSpc>
                <a:spcPct val="110000"/>
              </a:lnSpc>
              <a:buNone/>
            </a:pPr>
            <a:r>
              <a:rPr lang="en-US" sz="2400" dirty="0">
                <a:latin typeface="Palatino Linotype" panose="02040502050505030304" pitchFamily="18" charset="0"/>
              </a:rPr>
              <a:t>This is inspired by:</a:t>
            </a:r>
          </a:p>
          <a:p>
            <a:pPr>
              <a:lnSpc>
                <a:spcPct val="110000"/>
              </a:lnSpc>
            </a:pPr>
            <a:r>
              <a:rPr lang="en-GB" i="1" dirty="0">
                <a:latin typeface="Palatino Linotype" panose="02040502050505030304" pitchFamily="18" charset="0"/>
              </a:rPr>
              <a:t>Post-bop modal-tonal hybrids </a:t>
            </a:r>
            <a:r>
              <a:rPr lang="en-GB" dirty="0">
                <a:latin typeface="Palatino Linotype" panose="02040502050505030304" pitchFamily="18" charset="0"/>
              </a:rPr>
              <a:t>like:</a:t>
            </a:r>
          </a:p>
          <a:p>
            <a:pPr lvl="1">
              <a:lnSpc>
                <a:spcPct val="110000"/>
              </a:lnSpc>
            </a:pPr>
            <a:r>
              <a:rPr lang="en-GB" sz="2200" b="1" dirty="0">
                <a:latin typeface="Palatino Linotype" panose="02040502050505030304" pitchFamily="18" charset="0"/>
              </a:rPr>
              <a:t>Milestones</a:t>
            </a:r>
            <a:r>
              <a:rPr lang="en-GB" sz="2200" dirty="0">
                <a:latin typeface="Palatino Linotype" panose="02040502050505030304" pitchFamily="18" charset="0"/>
              </a:rPr>
              <a:t> (Miles Davis), </a:t>
            </a:r>
            <a:r>
              <a:rPr lang="en-GB" sz="2200" b="1" dirty="0">
                <a:latin typeface="Palatino Linotype" panose="02040502050505030304" pitchFamily="18" charset="0"/>
              </a:rPr>
              <a:t>Little Sunflower</a:t>
            </a:r>
            <a:r>
              <a:rPr lang="en-GB" sz="2200" dirty="0">
                <a:latin typeface="Palatino Linotype" panose="02040502050505030304" pitchFamily="18" charset="0"/>
              </a:rPr>
              <a:t> (Freddie Hubbard), </a:t>
            </a:r>
            <a:r>
              <a:rPr lang="en-GB" sz="2200" b="1" dirty="0">
                <a:latin typeface="Palatino Linotype" panose="02040502050505030304" pitchFamily="18" charset="0"/>
              </a:rPr>
              <a:t>Maiden Voyage</a:t>
            </a:r>
            <a:r>
              <a:rPr lang="en-GB" sz="2200" dirty="0">
                <a:latin typeface="Palatino Linotype" panose="02040502050505030304" pitchFamily="18" charset="0"/>
              </a:rPr>
              <a:t> (Herbie Hancock), </a:t>
            </a:r>
            <a:r>
              <a:rPr lang="en-GB" sz="2200" b="1" dirty="0">
                <a:latin typeface="Palatino Linotype" panose="02040502050505030304" pitchFamily="18" charset="0"/>
              </a:rPr>
              <a:t>Footprints</a:t>
            </a:r>
            <a:r>
              <a:rPr lang="en-GB" sz="2200" dirty="0">
                <a:latin typeface="Palatino Linotype" panose="02040502050505030304" pitchFamily="18" charset="0"/>
              </a:rPr>
              <a:t> (Wayne Shorter). These songs are my favourite things*.</a:t>
            </a:r>
          </a:p>
          <a:p>
            <a:pPr>
              <a:lnSpc>
                <a:spcPct val="110000"/>
              </a:lnSpc>
            </a:pPr>
            <a:r>
              <a:rPr lang="en-GB" sz="2400" dirty="0">
                <a:latin typeface="Palatino Linotype" panose="02040502050505030304" pitchFamily="18" charset="0"/>
              </a:rPr>
              <a:t>But also a journey through jazz:</a:t>
            </a:r>
          </a:p>
          <a:p>
            <a:pPr lvl="1">
              <a:lnSpc>
                <a:spcPct val="110000"/>
              </a:lnSpc>
            </a:pPr>
            <a:r>
              <a:rPr lang="en-GB" sz="2200" dirty="0">
                <a:latin typeface="Palatino Linotype" panose="02040502050505030304" pitchFamily="18" charset="0"/>
              </a:rPr>
              <a:t>Sparse opening resembles the chromatic freedom of free jazz,</a:t>
            </a:r>
          </a:p>
          <a:p>
            <a:pPr lvl="1">
              <a:lnSpc>
                <a:spcPct val="110000"/>
              </a:lnSpc>
            </a:pPr>
            <a:r>
              <a:rPr lang="en-GB" sz="2200" dirty="0">
                <a:latin typeface="Palatino Linotype" panose="02040502050505030304" pitchFamily="18" charset="0"/>
              </a:rPr>
              <a:t>Modal building stage reflects the Miles/Coltrane modal period,</a:t>
            </a:r>
          </a:p>
          <a:p>
            <a:pPr lvl="1">
              <a:lnSpc>
                <a:spcPct val="110000"/>
              </a:lnSpc>
            </a:pPr>
            <a:r>
              <a:rPr lang="en-GB" sz="2200" dirty="0">
                <a:latin typeface="Palatino Linotype" panose="02040502050505030304" pitchFamily="18" charset="0"/>
              </a:rPr>
              <a:t>Peak progression echoes hard bop,</a:t>
            </a:r>
          </a:p>
          <a:p>
            <a:pPr lvl="1">
              <a:lnSpc>
                <a:spcPct val="110000"/>
              </a:lnSpc>
            </a:pPr>
            <a:r>
              <a:rPr lang="en-GB" sz="2200" dirty="0">
                <a:latin typeface="Palatino Linotype" panose="02040502050505030304" pitchFamily="18" charset="0"/>
              </a:rPr>
              <a:t>Pedal resolution has the meditative quality of late Coltrane.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C70B48D-CD4E-B22D-68E4-0BAC398292EB}"/>
              </a:ext>
            </a:extLst>
          </p:cNvPr>
          <p:cNvSpPr txBox="1"/>
          <p:nvPr/>
        </p:nvSpPr>
        <p:spPr>
          <a:xfrm>
            <a:off x="9316720" y="6042770"/>
            <a:ext cx="249936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GB" sz="2000" dirty="0">
                <a:latin typeface="Palatino Linotype" panose="02040502050505030304" pitchFamily="18" charset="0"/>
              </a:rPr>
              <a:t>* John Coltrane</a:t>
            </a:r>
          </a:p>
        </p:txBody>
      </p:sp>
    </p:spTree>
    <p:extLst>
      <p:ext uri="{BB962C8B-B14F-4D97-AF65-F5344CB8AC3E}">
        <p14:creationId xmlns:p14="http://schemas.microsoft.com/office/powerpoint/2010/main" val="363815600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B0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600862" y="3743623"/>
            <a:ext cx="2264263" cy="16625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Pipeline</a:t>
            </a:r>
            <a:endParaRPr lang="en-US" sz="40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" name="Shape 2"/>
          <p:cNvSpPr/>
          <p:nvPr/>
        </p:nvSpPr>
        <p:spPr>
          <a:xfrm>
            <a:off x="365760" y="761879"/>
            <a:ext cx="1889760" cy="755904"/>
          </a:xfrm>
          <a:prstGeom prst="roundRect">
            <a:avLst>
              <a:gd name="adj" fmla="val 16667"/>
            </a:avLst>
          </a:prstGeom>
          <a:solidFill>
            <a:srgbClr val="2A3570"/>
          </a:solidFill>
          <a:ln w="19050">
            <a:solidFill>
              <a:srgbClr val="CADCFC"/>
            </a:solidFill>
            <a:prstDash val="solid"/>
          </a:ln>
        </p:spPr>
        <p:txBody>
          <a:bodyPr/>
          <a:lstStyle/>
          <a:p>
            <a:pPr defTabSz="1219170"/>
            <a:endParaRPr lang="en-US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" name="Text 3"/>
          <p:cNvSpPr/>
          <p:nvPr/>
        </p:nvSpPr>
        <p:spPr>
          <a:xfrm>
            <a:off x="365760" y="761879"/>
            <a:ext cx="1889760" cy="667900"/>
          </a:xfrm>
          <a:prstGeom prst="rect">
            <a:avLst/>
          </a:prstGeom>
          <a:noFill/>
          <a:ln/>
        </p:spPr>
        <p:txBody>
          <a:bodyPr wrap="square" lIns="67733" tIns="67733" rIns="67733" bIns="67733" rtlCol="0" anchor="ctr"/>
          <a:lstStyle/>
          <a:p>
            <a:pPr algn="ctr" defTabSz="1219170"/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Bass</a:t>
            </a:r>
            <a:b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(pitch-to-MIDI)</a:t>
            </a:r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" name="Shape 4"/>
          <p:cNvSpPr/>
          <p:nvPr/>
        </p:nvSpPr>
        <p:spPr>
          <a:xfrm>
            <a:off x="2865125" y="846690"/>
            <a:ext cx="1889760" cy="585216"/>
          </a:xfrm>
          <a:prstGeom prst="roundRect">
            <a:avLst>
              <a:gd name="adj" fmla="val 16667"/>
            </a:avLst>
          </a:prstGeom>
          <a:solidFill>
            <a:srgbClr val="2A3570"/>
          </a:solidFill>
          <a:ln w="19050">
            <a:solidFill>
              <a:srgbClr val="CADCFC"/>
            </a:solidFill>
            <a:prstDash val="solid"/>
          </a:ln>
        </p:spPr>
        <p:txBody>
          <a:bodyPr/>
          <a:lstStyle/>
          <a:p>
            <a:pPr defTabSz="1219170"/>
            <a:endParaRPr lang="en-US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" name="Text 5"/>
          <p:cNvSpPr/>
          <p:nvPr/>
        </p:nvSpPr>
        <p:spPr>
          <a:xfrm>
            <a:off x="2865125" y="846690"/>
            <a:ext cx="1889760" cy="585216"/>
          </a:xfrm>
          <a:prstGeom prst="rect">
            <a:avLst/>
          </a:prstGeom>
          <a:noFill/>
          <a:ln/>
        </p:spPr>
        <p:txBody>
          <a:bodyPr wrap="square" lIns="67733" tIns="67733" rIns="67733" bIns="67733" rtlCol="0" anchor="ctr"/>
          <a:lstStyle/>
          <a:p>
            <a:pPr algn="ctr" defTabSz="1219170"/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MidiListener</a:t>
            </a:r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" name="Shape 6"/>
          <p:cNvSpPr/>
          <p:nvPr/>
        </p:nvSpPr>
        <p:spPr>
          <a:xfrm>
            <a:off x="5416430" y="846690"/>
            <a:ext cx="2291561" cy="585216"/>
          </a:xfrm>
          <a:prstGeom prst="roundRect">
            <a:avLst>
              <a:gd name="adj" fmla="val 16667"/>
            </a:avLst>
          </a:prstGeom>
          <a:solidFill>
            <a:srgbClr val="2A3570"/>
          </a:solidFill>
          <a:ln w="19050">
            <a:solidFill>
              <a:srgbClr val="CADCFC"/>
            </a:solidFill>
            <a:prstDash val="solid"/>
          </a:ln>
        </p:spPr>
        <p:txBody>
          <a:bodyPr/>
          <a:lstStyle/>
          <a:p>
            <a:pPr defTabSz="1219170"/>
            <a:endParaRPr lang="en-US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" name="Text 7"/>
          <p:cNvSpPr/>
          <p:nvPr/>
        </p:nvSpPr>
        <p:spPr>
          <a:xfrm>
            <a:off x="5477390" y="846690"/>
            <a:ext cx="2197479" cy="585216"/>
          </a:xfrm>
          <a:prstGeom prst="rect">
            <a:avLst/>
          </a:prstGeom>
          <a:noFill/>
          <a:ln/>
        </p:spPr>
        <p:txBody>
          <a:bodyPr wrap="square" lIns="67733" tIns="67733" rIns="67733" bIns="67733" rtlCol="0" anchor="ctr"/>
          <a:lstStyle/>
          <a:p>
            <a:pPr algn="ctr" defTabSz="1219170"/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PhraseDetector</a:t>
            </a:r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8473440" y="664343"/>
            <a:ext cx="3413760" cy="1828800"/>
          </a:xfrm>
          <a:prstGeom prst="roundRect">
            <a:avLst>
              <a:gd name="adj" fmla="val 5333"/>
            </a:avLst>
          </a:prstGeom>
          <a:solidFill>
            <a:srgbClr val="253880"/>
          </a:solidFill>
          <a:ln w="25400">
            <a:solidFill>
              <a:srgbClr val="CADCFC"/>
            </a:solidFill>
            <a:prstDash val="solid"/>
          </a:ln>
        </p:spPr>
        <p:txBody>
          <a:bodyPr/>
          <a:lstStyle/>
          <a:p>
            <a:pPr defTabSz="1219170"/>
            <a:endParaRPr lang="en-US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1" name="Text 9"/>
          <p:cNvSpPr/>
          <p:nvPr/>
        </p:nvSpPr>
        <p:spPr>
          <a:xfrm>
            <a:off x="8534400" y="706749"/>
            <a:ext cx="3291840" cy="316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PhraseAnalyzer</a:t>
            </a:r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8839200" y="1030103"/>
            <a:ext cx="2950464" cy="1463040"/>
          </a:xfrm>
          <a:prstGeom prst="rect">
            <a:avLst/>
          </a:prstGeom>
          <a:noFill/>
          <a:ln/>
        </p:spPr>
        <p:txBody>
          <a:bodyPr wrap="square" lIns="33867" tIns="33867" rIns="33867" bIns="33867" rtlCol="0" anchor="t"/>
          <a:lstStyle/>
          <a:p>
            <a:pPr defTabSz="1219170"/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contour, density</a:t>
            </a:r>
            <a:endParaRPr lang="en-US" sz="1600" dirty="0">
              <a:solidFill>
                <a:prstClr val="black"/>
              </a:solidFill>
              <a:latin typeface="Calibri" panose="020F0502020204030204"/>
            </a:endParaRPr>
          </a:p>
          <a:p>
            <a:pPr defTabSz="1219170"/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Q&amp;A type, swing</a:t>
            </a:r>
            <a:endParaRPr lang="en-US" sz="1600" dirty="0">
              <a:solidFill>
                <a:prstClr val="black"/>
              </a:solidFill>
              <a:latin typeface="Calibri" panose="020F0502020204030204"/>
            </a:endParaRPr>
          </a:p>
          <a:p>
            <a:pPr defTabSz="1219170"/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dynamics, energy profile</a:t>
            </a:r>
            <a:endParaRPr lang="en-US" sz="1600" dirty="0">
              <a:solidFill>
                <a:prstClr val="black"/>
              </a:solidFill>
              <a:latin typeface="Calibri" panose="020F0502020204030204"/>
            </a:endParaRPr>
          </a:p>
          <a:p>
            <a:pPr defTabSz="1219170"/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pitch classes</a:t>
            </a:r>
            <a:endParaRPr lang="en-US" sz="1600" dirty="0">
              <a:solidFill>
                <a:prstClr val="black"/>
              </a:solidFill>
              <a:latin typeface="Calibri" panose="020F0502020204030204"/>
            </a:endParaRPr>
          </a:p>
          <a:p>
            <a:pPr defTabSz="1219170"/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interval motifs, lyrical motifs</a:t>
            </a:r>
            <a:endParaRPr lang="en-US" sz="16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7805528" y="1139298"/>
            <a:ext cx="497224" cy="1"/>
          </a:xfrm>
          <a:prstGeom prst="line">
            <a:avLst/>
          </a:prstGeom>
          <a:noFill/>
          <a:ln w="50800">
            <a:solidFill>
              <a:srgbClr val="CADCFC"/>
            </a:solidFill>
            <a:prstDash val="solid"/>
            <a:tailEnd type="arrow"/>
          </a:ln>
        </p:spPr>
        <p:txBody>
          <a:bodyPr/>
          <a:lstStyle/>
          <a:p>
            <a:pPr defTabSz="1219170"/>
            <a:endParaRPr lang="en-US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2389639" y="1999634"/>
            <a:ext cx="2292087" cy="585216"/>
          </a:xfrm>
          <a:prstGeom prst="roundRect">
            <a:avLst>
              <a:gd name="adj" fmla="val 16667"/>
            </a:avLst>
          </a:prstGeom>
          <a:solidFill>
            <a:srgbClr val="2A3570"/>
          </a:solidFill>
          <a:ln w="19050">
            <a:solidFill>
              <a:srgbClr val="CADCFC"/>
            </a:solidFill>
            <a:prstDash val="solid"/>
          </a:ln>
        </p:spPr>
        <p:txBody>
          <a:bodyPr/>
          <a:lstStyle/>
          <a:p>
            <a:pPr defTabSz="1219170"/>
            <a:endParaRPr lang="en-US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2389637" y="1999633"/>
            <a:ext cx="2292087" cy="3423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BeatEstimator</a:t>
            </a:r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2987040" y="2273325"/>
            <a:ext cx="1694688" cy="219456"/>
          </a:xfrm>
          <a:prstGeom prst="rect">
            <a:avLst/>
          </a:prstGeom>
          <a:noFill/>
          <a:ln/>
        </p:spPr>
        <p:txBody>
          <a:bodyPr wrap="square" lIns="33867" tIns="33867" rIns="33867" bIns="33867" rtlCol="0" anchor="t"/>
          <a:lstStyle/>
          <a:p>
            <a:pPr defTabSz="1219170"/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tempo</a:t>
            </a:r>
            <a:endParaRPr lang="en-US" sz="16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3566160" y="1560191"/>
            <a:ext cx="0" cy="353568"/>
          </a:xfrm>
          <a:prstGeom prst="line">
            <a:avLst/>
          </a:prstGeom>
          <a:noFill/>
          <a:ln w="50800">
            <a:solidFill>
              <a:srgbClr val="CADCFC"/>
            </a:solidFill>
            <a:prstDash val="solid"/>
            <a:tailEnd type="arrow"/>
          </a:ln>
        </p:spPr>
        <p:txBody>
          <a:bodyPr/>
          <a:lstStyle/>
          <a:p>
            <a:pPr defTabSz="1219170"/>
            <a:endParaRPr lang="en-US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4513688" y="2755535"/>
            <a:ext cx="3291840" cy="1287592"/>
          </a:xfrm>
          <a:prstGeom prst="roundRect">
            <a:avLst>
              <a:gd name="adj" fmla="val 8421"/>
            </a:avLst>
          </a:prstGeom>
          <a:solidFill>
            <a:srgbClr val="162050"/>
          </a:solidFill>
          <a:ln w="19050">
            <a:solidFill>
              <a:srgbClr val="CADCFC"/>
            </a:solidFill>
            <a:prstDash val="solid"/>
          </a:ln>
        </p:spPr>
        <p:txBody>
          <a:bodyPr/>
          <a:lstStyle/>
          <a:p>
            <a:pPr defTabSz="1219170"/>
            <a:endParaRPr lang="en-US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4574648" y="2842482"/>
            <a:ext cx="3169920" cy="316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PhraseMemory</a:t>
            </a:r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4940408" y="3198094"/>
            <a:ext cx="2767584" cy="792480"/>
          </a:xfrm>
          <a:prstGeom prst="rect">
            <a:avLst/>
          </a:prstGeom>
          <a:noFill/>
          <a:ln/>
        </p:spPr>
        <p:txBody>
          <a:bodyPr wrap="square" lIns="33867" tIns="33867" rIns="33867" bIns="33867" rtlCol="0" anchor="t"/>
          <a:lstStyle/>
          <a:p>
            <a:pPr defTabSz="1219170"/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stores phrases + motifs</a:t>
            </a:r>
            <a:endParaRPr lang="en-US" sz="1600" dirty="0">
              <a:solidFill>
                <a:prstClr val="black"/>
              </a:solidFill>
              <a:latin typeface="Calibri" panose="020F0502020204030204"/>
            </a:endParaRPr>
          </a:p>
          <a:p>
            <a:pPr defTabSz="1219170"/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stores lyrical motifs</a:t>
            </a:r>
            <a:endParaRPr lang="en-US" sz="1600" dirty="0">
              <a:solidFill>
                <a:prstClr val="black"/>
              </a:solidFill>
              <a:latin typeface="Calibri" panose="020F0502020204030204"/>
            </a:endParaRPr>
          </a:p>
          <a:p>
            <a:pPr defTabSz="1219170"/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voices (bass + sax)</a:t>
            </a:r>
            <a:endParaRPr lang="en-US" sz="16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3" name="Shape 21"/>
          <p:cNvSpPr/>
          <p:nvPr/>
        </p:nvSpPr>
        <p:spPr>
          <a:xfrm>
            <a:off x="8839200" y="2610826"/>
            <a:ext cx="0" cy="821376"/>
          </a:xfrm>
          <a:prstGeom prst="line">
            <a:avLst/>
          </a:prstGeom>
          <a:noFill/>
          <a:ln w="50800">
            <a:solidFill>
              <a:srgbClr val="CADCFC"/>
            </a:solidFill>
            <a:prstDash val="solid"/>
          </a:ln>
        </p:spPr>
        <p:txBody>
          <a:bodyPr/>
          <a:lstStyle/>
          <a:p>
            <a:pPr defTabSz="1219170"/>
            <a:endParaRPr lang="en-US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7912608" y="3432201"/>
            <a:ext cx="926592" cy="0"/>
          </a:xfrm>
          <a:prstGeom prst="line">
            <a:avLst/>
          </a:prstGeom>
          <a:noFill/>
          <a:ln w="50800">
            <a:solidFill>
              <a:srgbClr val="CADCFC"/>
            </a:solidFill>
            <a:prstDash val="solid"/>
            <a:headEnd type="arrow"/>
          </a:ln>
        </p:spPr>
        <p:txBody>
          <a:bodyPr/>
          <a:lstStyle/>
          <a:p>
            <a:pPr defTabSz="1219170"/>
            <a:endParaRPr lang="en-US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5" name="Shape 23"/>
          <p:cNvSpPr/>
          <p:nvPr/>
        </p:nvSpPr>
        <p:spPr>
          <a:xfrm>
            <a:off x="3566160" y="2734336"/>
            <a:ext cx="0" cy="697865"/>
          </a:xfrm>
          <a:prstGeom prst="line">
            <a:avLst/>
          </a:prstGeom>
          <a:noFill/>
          <a:ln w="50800">
            <a:solidFill>
              <a:srgbClr val="CADCFC"/>
            </a:solidFill>
            <a:prstDash val="solid"/>
          </a:ln>
        </p:spPr>
        <p:txBody>
          <a:bodyPr/>
          <a:lstStyle/>
          <a:p>
            <a:pPr defTabSz="1219170"/>
            <a:endParaRPr lang="en-US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6" name="Shape 24"/>
          <p:cNvSpPr/>
          <p:nvPr/>
        </p:nvSpPr>
        <p:spPr>
          <a:xfrm>
            <a:off x="3566160" y="3432201"/>
            <a:ext cx="883920" cy="0"/>
          </a:xfrm>
          <a:prstGeom prst="line">
            <a:avLst/>
          </a:prstGeom>
          <a:noFill/>
          <a:ln w="50800">
            <a:solidFill>
              <a:srgbClr val="CADCFC"/>
            </a:solidFill>
            <a:prstDash val="solid"/>
            <a:tailEnd type="arrow"/>
          </a:ln>
        </p:spPr>
        <p:txBody>
          <a:bodyPr/>
          <a:lstStyle/>
          <a:p>
            <a:pPr defTabSz="1219170"/>
            <a:endParaRPr lang="en-US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7" name="Shape 25"/>
          <p:cNvSpPr/>
          <p:nvPr/>
        </p:nvSpPr>
        <p:spPr>
          <a:xfrm>
            <a:off x="3352800" y="4522399"/>
            <a:ext cx="5486400" cy="1489456"/>
          </a:xfrm>
          <a:prstGeom prst="roundRect">
            <a:avLst>
              <a:gd name="adj" fmla="val 8000"/>
            </a:avLst>
          </a:prstGeom>
          <a:solidFill>
            <a:srgbClr val="253880"/>
          </a:solidFill>
          <a:ln w="25400">
            <a:solidFill>
              <a:srgbClr val="CADCFC"/>
            </a:solidFill>
            <a:prstDash val="solid"/>
          </a:ln>
        </p:spPr>
        <p:txBody>
          <a:bodyPr/>
          <a:lstStyle/>
          <a:p>
            <a:pPr defTabSz="1219170"/>
            <a:endParaRPr lang="en-US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8" name="Text 26"/>
          <p:cNvSpPr/>
          <p:nvPr/>
        </p:nvSpPr>
        <p:spPr>
          <a:xfrm>
            <a:off x="3413760" y="4574896"/>
            <a:ext cx="5364480" cy="3153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ArcController</a:t>
            </a:r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9" name="Text 27"/>
          <p:cNvSpPr/>
          <p:nvPr/>
        </p:nvSpPr>
        <p:spPr>
          <a:xfrm>
            <a:off x="3450336" y="4886419"/>
            <a:ext cx="5291328" cy="853440"/>
          </a:xfrm>
          <a:prstGeom prst="rect">
            <a:avLst/>
          </a:prstGeom>
          <a:noFill/>
          <a:ln/>
        </p:spPr>
        <p:txBody>
          <a:bodyPr wrap="square" lIns="33867" tIns="33867" rIns="33867" bIns="33867" rtlCol="0" anchor="t"/>
          <a:lstStyle/>
          <a:p>
            <a:pPr defTabSz="1219170"/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5-min performance arc  ·  leadership &amp; proactive mode</a:t>
            </a:r>
            <a:endParaRPr lang="en-US" sz="1600" dirty="0">
              <a:solidFill>
                <a:prstClr val="black"/>
              </a:solidFill>
              <a:latin typeface="Calibri" panose="020F0502020204030204"/>
            </a:endParaRPr>
          </a:p>
          <a:p>
            <a:pPr defTabSz="1219170"/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bass pitch-class tracking  ·  energy arc selection</a:t>
            </a:r>
            <a:endParaRPr lang="en-US" sz="1600" dirty="0">
              <a:solidFill>
                <a:prstClr val="black"/>
              </a:solidFill>
              <a:latin typeface="Calibri" panose="020F0502020204030204"/>
            </a:endParaRPr>
          </a:p>
          <a:p>
            <a:pPr defTabSz="1219170"/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motif + lyrical motif selection  ·  register contrast scheduling</a:t>
            </a:r>
            <a:endParaRPr lang="en-US" sz="1600" dirty="0">
              <a:solidFill>
                <a:prstClr val="black"/>
              </a:solidFill>
              <a:latin typeface="Calibri" panose="020F0502020204030204"/>
            </a:endParaRPr>
          </a:p>
          <a:p>
            <a:pPr defTabSz="1219170"/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rhythmic density + complementarity  ·  stage swing baseline</a:t>
            </a:r>
            <a:endParaRPr lang="en-US" sz="16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0" name="Shape 28"/>
          <p:cNvSpPr/>
          <p:nvPr/>
        </p:nvSpPr>
        <p:spPr>
          <a:xfrm>
            <a:off x="6096000" y="4125109"/>
            <a:ext cx="0" cy="315309"/>
          </a:xfrm>
          <a:prstGeom prst="line">
            <a:avLst/>
          </a:prstGeom>
          <a:noFill/>
          <a:ln w="50800">
            <a:solidFill>
              <a:srgbClr val="CADCFC"/>
            </a:solidFill>
            <a:prstDash val="solid"/>
            <a:tailEnd type="arrow"/>
          </a:ln>
        </p:spPr>
        <p:txBody>
          <a:bodyPr/>
          <a:lstStyle/>
          <a:p>
            <a:pPr defTabSz="1219170"/>
            <a:endParaRPr lang="en-US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2" name="Shape 28">
            <a:extLst>
              <a:ext uri="{FF2B5EF4-FFF2-40B4-BE49-F238E27FC236}">
                <a16:creationId xmlns:a16="http://schemas.microsoft.com/office/drawing/2014/main" id="{82A67C06-F31C-A34E-B75C-378998F00D80}"/>
              </a:ext>
            </a:extLst>
          </p:cNvPr>
          <p:cNvSpPr/>
          <p:nvPr/>
        </p:nvSpPr>
        <p:spPr>
          <a:xfrm>
            <a:off x="5991749" y="6173273"/>
            <a:ext cx="0" cy="476909"/>
          </a:xfrm>
          <a:prstGeom prst="line">
            <a:avLst/>
          </a:prstGeom>
          <a:noFill/>
          <a:ln w="50800">
            <a:solidFill>
              <a:srgbClr val="FFC000"/>
            </a:solidFill>
            <a:prstDash val="solid"/>
            <a:tailEnd type="arrow"/>
          </a:ln>
        </p:spPr>
        <p:txBody>
          <a:bodyPr/>
          <a:lstStyle/>
          <a:p>
            <a:pPr defTabSz="1219170"/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3" name="Shape 13">
            <a:extLst>
              <a:ext uri="{FF2B5EF4-FFF2-40B4-BE49-F238E27FC236}">
                <a16:creationId xmlns:a16="http://schemas.microsoft.com/office/drawing/2014/main" id="{BE87611D-8695-346E-CD03-8723D7EC6F13}"/>
              </a:ext>
            </a:extLst>
          </p:cNvPr>
          <p:cNvSpPr/>
          <p:nvPr/>
        </p:nvSpPr>
        <p:spPr>
          <a:xfrm>
            <a:off x="4834130" y="1139298"/>
            <a:ext cx="582300" cy="0"/>
          </a:xfrm>
          <a:prstGeom prst="line">
            <a:avLst/>
          </a:prstGeom>
          <a:noFill/>
          <a:ln w="50800">
            <a:solidFill>
              <a:srgbClr val="CADCFC"/>
            </a:solidFill>
            <a:prstDash val="solid"/>
            <a:tailEnd type="arrow"/>
          </a:ln>
        </p:spPr>
        <p:txBody>
          <a:bodyPr/>
          <a:lstStyle/>
          <a:p>
            <a:pPr defTabSz="1219170"/>
            <a:endParaRPr lang="en-US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4" name="Shape 13">
            <a:extLst>
              <a:ext uri="{FF2B5EF4-FFF2-40B4-BE49-F238E27FC236}">
                <a16:creationId xmlns:a16="http://schemas.microsoft.com/office/drawing/2014/main" id="{7493AAE1-3A41-2F24-A433-15942ED6887C}"/>
              </a:ext>
            </a:extLst>
          </p:cNvPr>
          <p:cNvSpPr/>
          <p:nvPr/>
        </p:nvSpPr>
        <p:spPr>
          <a:xfrm>
            <a:off x="2389639" y="1108553"/>
            <a:ext cx="377951" cy="0"/>
          </a:xfrm>
          <a:prstGeom prst="line">
            <a:avLst/>
          </a:prstGeom>
          <a:noFill/>
          <a:ln w="50800">
            <a:solidFill>
              <a:srgbClr val="CADCFC"/>
            </a:solidFill>
            <a:prstDash val="solid"/>
            <a:tailEnd type="arrow"/>
          </a:ln>
        </p:spPr>
        <p:txBody>
          <a:bodyPr/>
          <a:lstStyle/>
          <a:p>
            <a:pPr defTabSz="1219170"/>
            <a:endParaRPr lang="en-US" sz="2400">
              <a:solidFill>
                <a:prstClr val="black"/>
              </a:solidFill>
              <a:latin typeface="Calibri" panose="020F0502020204030204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B0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8847152" y="509213"/>
            <a:ext cx="2628677" cy="1394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Generation</a:t>
            </a:r>
            <a:endParaRPr lang="en-US" sz="40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" name="Shape 2"/>
          <p:cNvSpPr/>
          <p:nvPr/>
        </p:nvSpPr>
        <p:spPr>
          <a:xfrm>
            <a:off x="3573266" y="766065"/>
            <a:ext cx="2767053" cy="536448"/>
          </a:xfrm>
          <a:prstGeom prst="roundRect">
            <a:avLst>
              <a:gd name="adj" fmla="val 18182"/>
            </a:avLst>
          </a:prstGeom>
          <a:solidFill>
            <a:srgbClr val="253880"/>
          </a:solidFill>
          <a:ln w="25400">
            <a:solidFill>
              <a:srgbClr val="CADCFC"/>
            </a:solidFill>
            <a:prstDash val="solid"/>
          </a:ln>
        </p:spPr>
        <p:txBody>
          <a:bodyPr/>
          <a:lstStyle/>
          <a:p>
            <a:pPr defTabSz="1219170"/>
            <a:endParaRPr lang="en-US" sz="32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" name="Text 3"/>
          <p:cNvSpPr/>
          <p:nvPr/>
        </p:nvSpPr>
        <p:spPr>
          <a:xfrm>
            <a:off x="2762232" y="766065"/>
            <a:ext cx="4389120" cy="536448"/>
          </a:xfrm>
          <a:prstGeom prst="rect">
            <a:avLst/>
          </a:prstGeom>
          <a:noFill/>
          <a:ln/>
        </p:spPr>
        <p:txBody>
          <a:bodyPr wrap="square" lIns="67733" tIns="67733" rIns="67733" bIns="67733" rtlCol="0" anchor="ctr"/>
          <a:lstStyle/>
          <a:p>
            <a:pPr algn="ctr" defTabSz="1219170"/>
            <a:r>
              <a:rPr lang="en-US" sz="24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ArcController</a:t>
            </a:r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" name="Shape 4"/>
          <p:cNvSpPr/>
          <p:nvPr/>
        </p:nvSpPr>
        <p:spPr>
          <a:xfrm>
            <a:off x="2730957" y="1663639"/>
            <a:ext cx="4420393" cy="717212"/>
          </a:xfrm>
          <a:prstGeom prst="roundRect">
            <a:avLst>
              <a:gd name="adj" fmla="val 15385"/>
            </a:avLst>
          </a:prstGeom>
          <a:solidFill>
            <a:srgbClr val="2A3570"/>
          </a:solidFill>
          <a:ln w="19050">
            <a:solidFill>
              <a:srgbClr val="CADCFC"/>
            </a:solidFill>
            <a:prstDash val="solid"/>
          </a:ln>
        </p:spPr>
        <p:txBody>
          <a:bodyPr/>
          <a:lstStyle/>
          <a:p>
            <a:pPr defTabSz="1219170"/>
            <a:endParaRPr lang="en-US" sz="32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" name="Text 5"/>
          <p:cNvSpPr/>
          <p:nvPr/>
        </p:nvSpPr>
        <p:spPr>
          <a:xfrm>
            <a:off x="3188952" y="1746866"/>
            <a:ext cx="3535680" cy="316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HarmonyController</a:t>
            </a:r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" name="Text 6"/>
          <p:cNvSpPr/>
          <p:nvPr/>
        </p:nvSpPr>
        <p:spPr>
          <a:xfrm>
            <a:off x="2862951" y="2063329"/>
            <a:ext cx="4187683" cy="268224"/>
          </a:xfrm>
          <a:prstGeom prst="rect">
            <a:avLst/>
          </a:prstGeom>
          <a:noFill/>
          <a:ln/>
        </p:spPr>
        <p:txBody>
          <a:bodyPr wrap="square" lIns="33867" tIns="33867" rIns="33867" bIns="33867" rtlCol="0" anchor="t"/>
          <a:lstStyle/>
          <a:p>
            <a:pPr defTabSz="1219170"/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mode, progression, pedal  ·  tritone substitution</a:t>
            </a:r>
            <a:endParaRPr lang="en-US" sz="16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1177272" y="2808994"/>
            <a:ext cx="7559040" cy="2022280"/>
          </a:xfrm>
          <a:prstGeom prst="roundRect">
            <a:avLst>
              <a:gd name="adj" fmla="val 6780"/>
            </a:avLst>
          </a:prstGeom>
          <a:solidFill>
            <a:srgbClr val="253880"/>
          </a:solidFill>
          <a:ln w="25400">
            <a:solidFill>
              <a:srgbClr val="CADCFC"/>
            </a:solidFill>
            <a:prstDash val="solid"/>
          </a:ln>
        </p:spPr>
        <p:txBody>
          <a:bodyPr/>
          <a:lstStyle/>
          <a:p>
            <a:pPr defTabSz="1219170"/>
            <a:endParaRPr lang="en-US" sz="32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1" name="Text 9"/>
          <p:cNvSpPr/>
          <p:nvPr/>
        </p:nvSpPr>
        <p:spPr>
          <a:xfrm>
            <a:off x="1238232" y="2877369"/>
            <a:ext cx="7437120" cy="316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PhraseGenerator (LSTM)</a:t>
            </a:r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2073118" y="3243129"/>
            <a:ext cx="6565657" cy="1072896"/>
          </a:xfrm>
          <a:prstGeom prst="rect">
            <a:avLst/>
          </a:prstGeom>
          <a:noFill/>
          <a:ln/>
        </p:spPr>
        <p:txBody>
          <a:bodyPr wrap="square" lIns="33867" tIns="33867" rIns="33867" bIns="33867" rtlCol="0" anchor="t"/>
          <a:lstStyle/>
          <a:p>
            <a:pPr defTabSz="1219170"/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LSTM + chord conditioning  ·  pitch range limits + register gravity</a:t>
            </a:r>
            <a:endParaRPr lang="en-US" sz="1600" dirty="0">
              <a:solidFill>
                <a:prstClr val="black"/>
              </a:solidFill>
              <a:latin typeface="Calibri" panose="020F0502020204030204"/>
            </a:endParaRPr>
          </a:p>
          <a:p>
            <a:pPr defTabSz="1219170"/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register contrast  ·  scale pitch bias  ·  contour steering</a:t>
            </a:r>
            <a:endParaRPr lang="en-US" sz="1600" dirty="0">
              <a:solidFill>
                <a:prstClr val="black"/>
              </a:solidFill>
              <a:latin typeface="Calibri" panose="020F0502020204030204"/>
            </a:endParaRPr>
          </a:p>
          <a:p>
            <a:pPr defTabSz="1219170"/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swing/triplet bias  ·  energy arc shaping</a:t>
            </a:r>
            <a:endParaRPr lang="en-US" sz="1600" dirty="0">
              <a:solidFill>
                <a:prstClr val="black"/>
              </a:solidFill>
              <a:latin typeface="Calibri" panose="020F0502020204030204"/>
            </a:endParaRPr>
          </a:p>
          <a:p>
            <a:pPr defTabSz="1219170"/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long-note penalty + singable duration bias  ·  motivic development</a:t>
            </a:r>
            <a:endParaRPr lang="en-US" sz="1600" dirty="0">
              <a:solidFill>
                <a:prstClr val="black"/>
              </a:solidFill>
              <a:latin typeface="Calibri" panose="020F0502020204030204"/>
            </a:endParaRPr>
          </a:p>
          <a:p>
            <a:pPr defTabSz="1219170"/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voice leading  ·  modal leap bonus (P4/P5)  ·  repetition penalty</a:t>
            </a:r>
            <a:endParaRPr lang="en-US" sz="1600" dirty="0">
              <a:solidFill>
                <a:prstClr val="black"/>
              </a:solidFill>
              <a:latin typeface="Calibri" panose="020F0502020204030204"/>
            </a:endParaRPr>
          </a:p>
          <a:p>
            <a:pPr defTabSz="1219170"/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 injection  ·  beat accumulator</a:t>
            </a:r>
            <a:endParaRPr lang="en-US" sz="16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644533" y="5334860"/>
            <a:ext cx="2129360" cy="1114235"/>
          </a:xfrm>
          <a:prstGeom prst="roundRect">
            <a:avLst>
              <a:gd name="adj" fmla="val 12308"/>
            </a:avLst>
          </a:prstGeom>
          <a:solidFill>
            <a:srgbClr val="2A3570"/>
          </a:solidFill>
          <a:ln w="19050">
            <a:solidFill>
              <a:srgbClr val="CADCFC"/>
            </a:solidFill>
            <a:prstDash val="solid"/>
          </a:ln>
        </p:spPr>
        <p:txBody>
          <a:bodyPr/>
          <a:lstStyle/>
          <a:p>
            <a:pPr defTabSz="1219170"/>
            <a:endParaRPr lang="en-US" sz="32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438329" y="5429433"/>
            <a:ext cx="2560320" cy="316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PhraseMemory</a:t>
            </a:r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832714" y="5795193"/>
            <a:ext cx="2129359" cy="560832"/>
          </a:xfrm>
          <a:prstGeom prst="rect">
            <a:avLst/>
          </a:prstGeom>
          <a:noFill/>
          <a:ln/>
        </p:spPr>
        <p:txBody>
          <a:bodyPr wrap="square" lIns="33867" tIns="33867" rIns="33867" bIns="33867" rtlCol="0" anchor="t"/>
          <a:lstStyle/>
          <a:p>
            <a:pPr defTabSz="1219170"/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motifs, recall,</a:t>
            </a:r>
            <a:endParaRPr lang="en-US" sz="1600" dirty="0">
              <a:solidFill>
                <a:prstClr val="black"/>
              </a:solidFill>
              <a:latin typeface="Calibri" panose="020F0502020204030204"/>
            </a:endParaRPr>
          </a:p>
          <a:p>
            <a:pPr defTabSz="1219170"/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self-play seed</a:t>
            </a:r>
            <a:endParaRPr lang="en-US" sz="16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3310872" y="5324259"/>
            <a:ext cx="3291840" cy="1193225"/>
          </a:xfrm>
          <a:prstGeom prst="roundRect">
            <a:avLst>
              <a:gd name="adj" fmla="val 12308"/>
            </a:avLst>
          </a:prstGeom>
          <a:solidFill>
            <a:srgbClr val="2A3570"/>
          </a:solidFill>
          <a:ln w="19050">
            <a:solidFill>
              <a:srgbClr val="CADCFC"/>
            </a:solidFill>
            <a:prstDash val="solid"/>
          </a:ln>
        </p:spPr>
        <p:txBody>
          <a:bodyPr/>
          <a:lstStyle/>
          <a:p>
            <a:pPr defTabSz="1219170"/>
            <a:endParaRPr lang="en-US" sz="32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3371832" y="5583689"/>
            <a:ext cx="3169920" cy="316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WebAudienceDisplay / OscOutput</a:t>
            </a:r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3495872" y="6110908"/>
            <a:ext cx="2921840" cy="426720"/>
          </a:xfrm>
          <a:prstGeom prst="rect">
            <a:avLst/>
          </a:prstGeom>
          <a:noFill/>
          <a:ln/>
        </p:spPr>
        <p:txBody>
          <a:bodyPr wrap="square" lIns="33867" tIns="33867" rIns="33867" bIns="33867" rtlCol="0" anchor="t"/>
          <a:lstStyle/>
          <a:p>
            <a:pPr defTabSz="1219170"/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sees full intended phrase</a:t>
            </a:r>
            <a:endParaRPr lang="en-US" sz="16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9334831" y="2808994"/>
            <a:ext cx="2316480" cy="1288382"/>
          </a:xfrm>
          <a:prstGeom prst="roundRect">
            <a:avLst>
              <a:gd name="adj" fmla="val 12308"/>
            </a:avLst>
          </a:prstGeom>
          <a:solidFill>
            <a:srgbClr val="2A3570"/>
          </a:solidFill>
          <a:ln w="19050">
            <a:solidFill>
              <a:srgbClr val="CADCFC"/>
            </a:solidFill>
            <a:prstDash val="solid"/>
          </a:ln>
        </p:spPr>
        <p:txBody>
          <a:bodyPr/>
          <a:lstStyle/>
          <a:p>
            <a:pPr defTabSz="1219170"/>
            <a:endParaRPr lang="en-US" sz="32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9391815" y="2999161"/>
            <a:ext cx="2194560" cy="4693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thinning</a:t>
            </a:r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9432367" y="3545031"/>
            <a:ext cx="2121408" cy="627889"/>
          </a:xfrm>
          <a:prstGeom prst="rect">
            <a:avLst/>
          </a:prstGeom>
          <a:noFill/>
          <a:ln/>
        </p:spPr>
        <p:txBody>
          <a:bodyPr wrap="square" lIns="33867" tIns="33867" rIns="33867" bIns="33867" rtlCol="0" anchor="t"/>
          <a:lstStyle/>
          <a:p>
            <a:pPr defTabSz="1219170"/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 notes dropped</a:t>
            </a:r>
            <a:endParaRPr lang="en-US" sz="1600" dirty="0">
              <a:solidFill>
                <a:prstClr val="black"/>
              </a:solidFill>
              <a:latin typeface="Calibri" panose="020F0502020204030204"/>
            </a:endParaRPr>
          </a:p>
          <a:p>
            <a:pPr defTabSz="1219170"/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stochastically</a:t>
            </a:r>
            <a:endParaRPr lang="en-US" sz="16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3" name="Shape 21"/>
          <p:cNvSpPr/>
          <p:nvPr/>
        </p:nvSpPr>
        <p:spPr>
          <a:xfrm>
            <a:off x="9334831" y="4587966"/>
            <a:ext cx="2316480" cy="998153"/>
          </a:xfrm>
          <a:prstGeom prst="roundRect">
            <a:avLst>
              <a:gd name="adj" fmla="val 17391"/>
            </a:avLst>
          </a:prstGeom>
          <a:solidFill>
            <a:srgbClr val="2A3570"/>
          </a:solidFill>
          <a:ln w="19050">
            <a:solidFill>
              <a:srgbClr val="CADCFC"/>
            </a:solidFill>
            <a:prstDash val="solid"/>
          </a:ln>
        </p:spPr>
        <p:txBody>
          <a:bodyPr/>
          <a:lstStyle/>
          <a:p>
            <a:pPr defTabSz="1219170"/>
            <a:endParaRPr lang="en-US" sz="32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4" name="Text 22"/>
          <p:cNvSpPr/>
          <p:nvPr/>
        </p:nvSpPr>
        <p:spPr>
          <a:xfrm>
            <a:off x="9395791" y="4682538"/>
            <a:ext cx="2194560" cy="316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MidiOutput</a:t>
            </a:r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9432367" y="5006733"/>
            <a:ext cx="2121408" cy="195072"/>
          </a:xfrm>
          <a:prstGeom prst="rect">
            <a:avLst/>
          </a:prstGeom>
          <a:noFill/>
          <a:ln/>
        </p:spPr>
        <p:txBody>
          <a:bodyPr wrap="square" lIns="33867" tIns="33867" rIns="33867" bIns="33867" rtlCol="0" anchor="t"/>
          <a:lstStyle/>
          <a:p>
            <a:pPr defTabSz="1219170"/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energy arc × peak × end taper</a:t>
            </a:r>
            <a:endParaRPr lang="en-US" sz="16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7" name="Shape 25"/>
          <p:cNvSpPr/>
          <p:nvPr/>
        </p:nvSpPr>
        <p:spPr>
          <a:xfrm>
            <a:off x="9330061" y="6010182"/>
            <a:ext cx="2316479" cy="438912"/>
          </a:xfrm>
          <a:prstGeom prst="roundRect">
            <a:avLst>
              <a:gd name="adj" fmla="val 22222"/>
            </a:avLst>
          </a:prstGeom>
          <a:solidFill>
            <a:srgbClr val="2A3570"/>
          </a:solidFill>
          <a:ln w="19050">
            <a:solidFill>
              <a:srgbClr val="CADCFC"/>
            </a:solidFill>
            <a:prstDash val="solid"/>
          </a:ln>
        </p:spPr>
        <p:txBody>
          <a:bodyPr/>
          <a:lstStyle/>
          <a:p>
            <a:pPr defTabSz="1219170"/>
            <a:endParaRPr lang="en-US" sz="32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8" name="Text 26"/>
          <p:cNvSpPr/>
          <p:nvPr/>
        </p:nvSpPr>
        <p:spPr>
          <a:xfrm>
            <a:off x="9330061" y="6010182"/>
            <a:ext cx="2435219" cy="438912"/>
          </a:xfrm>
          <a:prstGeom prst="rect">
            <a:avLst/>
          </a:prstGeom>
          <a:noFill/>
          <a:ln/>
        </p:spPr>
        <p:txBody>
          <a:bodyPr wrap="square" lIns="67733" tIns="67733" rIns="67733" bIns="67733" rtlCol="0" anchor="ctr"/>
          <a:lstStyle/>
          <a:p>
            <a:pPr algn="ctr" defTabSz="1219170"/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 (sax voice)</a:t>
            </a:r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0" name="Shape 28"/>
          <p:cNvSpPr/>
          <p:nvPr/>
        </p:nvSpPr>
        <p:spPr>
          <a:xfrm>
            <a:off x="4956792" y="5075114"/>
            <a:ext cx="0" cy="60960"/>
          </a:xfrm>
          <a:prstGeom prst="line">
            <a:avLst/>
          </a:prstGeom>
          <a:noFill/>
          <a:ln w="19050">
            <a:solidFill>
              <a:srgbClr val="CADCFC"/>
            </a:solidFill>
            <a:prstDash val="solid"/>
          </a:ln>
        </p:spPr>
        <p:txBody>
          <a:bodyPr/>
          <a:lstStyle/>
          <a:p>
            <a:pPr defTabSz="1219170"/>
            <a:endParaRPr lang="en-US" sz="32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2" name="Shape 30"/>
          <p:cNvSpPr/>
          <p:nvPr/>
        </p:nvSpPr>
        <p:spPr>
          <a:xfrm>
            <a:off x="1808074" y="4931993"/>
            <a:ext cx="1" cy="335547"/>
          </a:xfrm>
          <a:prstGeom prst="line">
            <a:avLst/>
          </a:prstGeom>
          <a:noFill/>
          <a:ln w="50800">
            <a:solidFill>
              <a:srgbClr val="CADCFC"/>
            </a:solidFill>
            <a:prstDash val="solid"/>
            <a:tailEnd type="arrow"/>
          </a:ln>
        </p:spPr>
        <p:txBody>
          <a:bodyPr/>
          <a:lstStyle/>
          <a:p>
            <a:pPr defTabSz="1219170"/>
            <a:endParaRPr lang="en-US" sz="32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3" name="Shape 31"/>
          <p:cNvSpPr/>
          <p:nvPr/>
        </p:nvSpPr>
        <p:spPr>
          <a:xfrm>
            <a:off x="4956792" y="4931994"/>
            <a:ext cx="0" cy="305332"/>
          </a:xfrm>
          <a:prstGeom prst="line">
            <a:avLst/>
          </a:prstGeom>
          <a:noFill/>
          <a:ln w="50800">
            <a:solidFill>
              <a:srgbClr val="CADCFC"/>
            </a:solidFill>
            <a:prstDash val="solid"/>
            <a:tailEnd type="arrow"/>
          </a:ln>
        </p:spPr>
        <p:txBody>
          <a:bodyPr/>
          <a:lstStyle/>
          <a:p>
            <a:pPr defTabSz="1219170"/>
            <a:endParaRPr lang="en-US" sz="32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6" name="Shape 31">
            <a:extLst>
              <a:ext uri="{FF2B5EF4-FFF2-40B4-BE49-F238E27FC236}">
                <a16:creationId xmlns:a16="http://schemas.microsoft.com/office/drawing/2014/main" id="{BF73742D-C58B-745E-C84B-09469BF39C30}"/>
              </a:ext>
            </a:extLst>
          </p:cNvPr>
          <p:cNvSpPr/>
          <p:nvPr/>
        </p:nvSpPr>
        <p:spPr>
          <a:xfrm flipH="1">
            <a:off x="10388467" y="4199409"/>
            <a:ext cx="7600" cy="323365"/>
          </a:xfrm>
          <a:prstGeom prst="line">
            <a:avLst/>
          </a:prstGeom>
          <a:noFill/>
          <a:ln w="50800">
            <a:solidFill>
              <a:srgbClr val="CADCFC"/>
            </a:solidFill>
            <a:prstDash val="solid"/>
            <a:tailEnd type="arrow"/>
          </a:ln>
        </p:spPr>
        <p:txBody>
          <a:bodyPr/>
          <a:lstStyle/>
          <a:p>
            <a:pPr defTabSz="1219170"/>
            <a:endParaRPr lang="en-US" sz="32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7" name="Shape 31">
            <a:extLst>
              <a:ext uri="{FF2B5EF4-FFF2-40B4-BE49-F238E27FC236}">
                <a16:creationId xmlns:a16="http://schemas.microsoft.com/office/drawing/2014/main" id="{D564B4AF-489C-043B-EABE-47C335D52D83}"/>
              </a:ext>
            </a:extLst>
          </p:cNvPr>
          <p:cNvSpPr/>
          <p:nvPr/>
        </p:nvSpPr>
        <p:spPr>
          <a:xfrm>
            <a:off x="10388468" y="5660328"/>
            <a:ext cx="0" cy="340838"/>
          </a:xfrm>
          <a:prstGeom prst="line">
            <a:avLst/>
          </a:prstGeom>
          <a:noFill/>
          <a:ln w="50800">
            <a:solidFill>
              <a:srgbClr val="CADCFC"/>
            </a:solidFill>
            <a:prstDash val="solid"/>
            <a:tailEnd type="arrow"/>
          </a:ln>
        </p:spPr>
        <p:txBody>
          <a:bodyPr/>
          <a:lstStyle/>
          <a:p>
            <a:pPr defTabSz="1219170"/>
            <a:endParaRPr lang="en-US" sz="32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9" name="Shape 31">
            <a:extLst>
              <a:ext uri="{FF2B5EF4-FFF2-40B4-BE49-F238E27FC236}">
                <a16:creationId xmlns:a16="http://schemas.microsoft.com/office/drawing/2014/main" id="{75C8DDBB-FB84-20C6-A810-B200A3A2F6C0}"/>
              </a:ext>
            </a:extLst>
          </p:cNvPr>
          <p:cNvSpPr/>
          <p:nvPr/>
        </p:nvSpPr>
        <p:spPr>
          <a:xfrm>
            <a:off x="4956792" y="1302513"/>
            <a:ext cx="0" cy="310630"/>
          </a:xfrm>
          <a:prstGeom prst="line">
            <a:avLst/>
          </a:prstGeom>
          <a:noFill/>
          <a:ln w="50800">
            <a:solidFill>
              <a:srgbClr val="CADCFC"/>
            </a:solidFill>
            <a:prstDash val="solid"/>
            <a:tailEnd type="arrow"/>
          </a:ln>
        </p:spPr>
        <p:txBody>
          <a:bodyPr/>
          <a:lstStyle/>
          <a:p>
            <a:pPr defTabSz="1219170"/>
            <a:endParaRPr lang="en-US" sz="32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0" name="Shape 31">
            <a:extLst>
              <a:ext uri="{FF2B5EF4-FFF2-40B4-BE49-F238E27FC236}">
                <a16:creationId xmlns:a16="http://schemas.microsoft.com/office/drawing/2014/main" id="{87FC4B10-340A-6F3B-E434-9066D920521B}"/>
              </a:ext>
            </a:extLst>
          </p:cNvPr>
          <p:cNvSpPr/>
          <p:nvPr/>
        </p:nvSpPr>
        <p:spPr>
          <a:xfrm>
            <a:off x="4956792" y="2450126"/>
            <a:ext cx="0" cy="298611"/>
          </a:xfrm>
          <a:prstGeom prst="line">
            <a:avLst/>
          </a:prstGeom>
          <a:noFill/>
          <a:ln w="50800">
            <a:solidFill>
              <a:srgbClr val="CADCFC"/>
            </a:solidFill>
            <a:prstDash val="solid"/>
            <a:tailEnd type="arrow"/>
          </a:ln>
        </p:spPr>
        <p:txBody>
          <a:bodyPr/>
          <a:lstStyle/>
          <a:p>
            <a:pPr defTabSz="1219170"/>
            <a:endParaRPr lang="en-US" sz="32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1" name="Shape 28">
            <a:extLst>
              <a:ext uri="{FF2B5EF4-FFF2-40B4-BE49-F238E27FC236}">
                <a16:creationId xmlns:a16="http://schemas.microsoft.com/office/drawing/2014/main" id="{4AF251FC-3F52-BB0D-6527-22ED0889C44F}"/>
              </a:ext>
            </a:extLst>
          </p:cNvPr>
          <p:cNvSpPr/>
          <p:nvPr/>
        </p:nvSpPr>
        <p:spPr>
          <a:xfrm>
            <a:off x="4956792" y="201354"/>
            <a:ext cx="0" cy="504184"/>
          </a:xfrm>
          <a:prstGeom prst="line">
            <a:avLst/>
          </a:prstGeom>
          <a:noFill/>
          <a:ln w="50800">
            <a:solidFill>
              <a:srgbClr val="FFC000"/>
            </a:solidFill>
            <a:prstDash val="solid"/>
            <a:tailEnd type="arrow"/>
          </a:ln>
        </p:spPr>
        <p:txBody>
          <a:bodyPr/>
          <a:lstStyle/>
          <a:p>
            <a:pPr defTabSz="1219170"/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" name="Shape 13">
            <a:extLst>
              <a:ext uri="{FF2B5EF4-FFF2-40B4-BE49-F238E27FC236}">
                <a16:creationId xmlns:a16="http://schemas.microsoft.com/office/drawing/2014/main" id="{C7B5150A-7B3C-0DF6-D272-7A58E5994619}"/>
              </a:ext>
            </a:extLst>
          </p:cNvPr>
          <p:cNvSpPr/>
          <p:nvPr/>
        </p:nvSpPr>
        <p:spPr>
          <a:xfrm>
            <a:off x="8847152" y="3468554"/>
            <a:ext cx="377951" cy="0"/>
          </a:xfrm>
          <a:prstGeom prst="line">
            <a:avLst/>
          </a:prstGeom>
          <a:noFill/>
          <a:ln w="50800">
            <a:solidFill>
              <a:srgbClr val="CADCFC"/>
            </a:solidFill>
            <a:prstDash val="solid"/>
            <a:tailEnd type="arrow"/>
          </a:ln>
        </p:spPr>
        <p:txBody>
          <a:bodyPr/>
          <a:lstStyle/>
          <a:p>
            <a:pPr defTabSz="1219170"/>
            <a:endParaRPr lang="en-US" sz="2400">
              <a:solidFill>
                <a:prstClr val="black"/>
              </a:solidFill>
              <a:latin typeface="Calibri" panose="020F0502020204030204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E4B5C3-4E97-2FBD-C3E6-8CA09117AD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6001B8-D5D3-E4A7-6E0F-ADA4EC976D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05753"/>
          </a:xfrm>
        </p:spPr>
        <p:txBody>
          <a:bodyPr/>
          <a:lstStyle/>
          <a:p>
            <a:r>
              <a:rPr lang="en-US" dirty="0"/>
              <a:t>Web Display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5B5404BD-1090-3089-CBFF-BBD904D4ADB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6140340" y="1355491"/>
            <a:ext cx="5470057" cy="4147015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547D8AC2-49A7-BC76-BD7E-3E94A6B53FB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4580" y="1355492"/>
            <a:ext cx="4831664" cy="4147015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24575787-65A4-F6FC-5F3E-2143B5A3637C}"/>
              </a:ext>
            </a:extLst>
          </p:cNvPr>
          <p:cNvSpPr txBox="1"/>
          <p:nvPr/>
        </p:nvSpPr>
        <p:spPr>
          <a:xfrm>
            <a:off x="2821259" y="5846544"/>
            <a:ext cx="684684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600" b="1" dirty="0" err="1"/>
              <a:t>wolfson.numbersintonotes.net</a:t>
            </a:r>
            <a:endParaRPr lang="en-US" sz="3600" b="1" dirty="0"/>
          </a:p>
        </p:txBody>
      </p:sp>
    </p:spTree>
    <p:extLst>
      <p:ext uri="{BB962C8B-B14F-4D97-AF65-F5344CB8AC3E}">
        <p14:creationId xmlns:p14="http://schemas.microsoft.com/office/powerpoint/2010/main" val="22769834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D793BB-5984-061A-79FE-248D7810A2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0065DF7-EEE5-CCF2-2669-649CAF486EF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903249"/>
            <a:ext cx="10515600" cy="5273714"/>
          </a:xfrm>
        </p:spPr>
        <p:txBody>
          <a:bodyPr>
            <a:normAutofit/>
          </a:bodyPr>
          <a:lstStyle/>
          <a:p>
            <a:r>
              <a:rPr lang="en-US" dirty="0">
                <a:latin typeface="Palatino Linotype" panose="02040502050505030304" pitchFamily="18" charset="0"/>
              </a:rPr>
              <a:t>Repo is on </a:t>
            </a:r>
            <a:r>
              <a:rPr lang="en-US" dirty="0">
                <a:latin typeface="Palatino Linotype" panose="02040502050505030304" pitchFamily="18" charset="0"/>
                <a:hlinkClick r:id="rId3"/>
              </a:rPr>
              <a:t>github.com/davidderoure/wolfson</a:t>
            </a:r>
            <a:r>
              <a:rPr lang="en-US" dirty="0">
                <a:latin typeface="Palatino Linotype" panose="02040502050505030304" pitchFamily="18" charset="0"/>
              </a:rPr>
              <a:t>  </a:t>
            </a:r>
          </a:p>
          <a:p>
            <a:endParaRPr lang="en-US" dirty="0">
              <a:latin typeface="Palatino Linotype" panose="02040502050505030304" pitchFamily="18" charset="0"/>
            </a:endParaRPr>
          </a:p>
          <a:p>
            <a:r>
              <a:rPr lang="en-US" dirty="0">
                <a:latin typeface="Palatino Linotype" panose="02040502050505030304" pitchFamily="18" charset="0"/>
              </a:rPr>
              <a:t>Acknowledgement:</a:t>
            </a:r>
          </a:p>
          <a:p>
            <a:pPr lvl="1"/>
            <a:r>
              <a:rPr lang="en-US" sz="2200" dirty="0">
                <a:latin typeface="Palatino Linotype" panose="02040502050505030304" pitchFamily="18" charset="0"/>
              </a:rPr>
              <a:t>Ray </a:t>
            </a:r>
            <a:r>
              <a:rPr lang="en-US" sz="2200" dirty="0" err="1">
                <a:latin typeface="Palatino Linotype" panose="02040502050505030304" pitchFamily="18" charset="0"/>
              </a:rPr>
              <a:t>d’Inverno</a:t>
            </a:r>
            <a:r>
              <a:rPr lang="en-US" sz="2200" dirty="0">
                <a:latin typeface="Palatino Linotype" panose="02040502050505030304" pitchFamily="18" charset="0"/>
              </a:rPr>
              <a:t> (for jazz, Lisp, AI, slick licks)</a:t>
            </a:r>
          </a:p>
          <a:p>
            <a:pPr lvl="1"/>
            <a:r>
              <a:rPr lang="en-US" sz="2200" dirty="0">
                <a:latin typeface="Palatino Linotype" panose="02040502050505030304" pitchFamily="18" charset="0"/>
              </a:rPr>
              <a:t>Mark </a:t>
            </a:r>
            <a:r>
              <a:rPr lang="en-US" sz="2200" dirty="0" err="1">
                <a:latin typeface="Palatino Linotype" panose="02040502050505030304" pitchFamily="18" charset="0"/>
              </a:rPr>
              <a:t>d’Inverno</a:t>
            </a:r>
            <a:r>
              <a:rPr lang="en-US" sz="2200" dirty="0">
                <a:latin typeface="Palatino Linotype" panose="02040502050505030304" pitchFamily="18" charset="0"/>
              </a:rPr>
              <a:t> (for jazz, AI, creativity, slick licks)</a:t>
            </a:r>
          </a:p>
          <a:p>
            <a:pPr lvl="1"/>
            <a:r>
              <a:rPr lang="en-US" sz="2200" dirty="0">
                <a:latin typeface="Palatino Linotype" panose="02040502050505030304" pitchFamily="18" charset="0"/>
              </a:rPr>
              <a:t>George E Lewis (for Voyager and Forager)</a:t>
            </a:r>
          </a:p>
          <a:p>
            <a:pPr lvl="1"/>
            <a:r>
              <a:rPr lang="en-US" sz="2200" dirty="0">
                <a:latin typeface="Palatino Linotype" panose="02040502050505030304" pitchFamily="18" charset="0"/>
              </a:rPr>
              <a:t>Robert Laidlow (for Alter-</a:t>
            </a:r>
            <a:r>
              <a:rPr lang="en-US" sz="2200" dirty="0" err="1">
                <a:latin typeface="Palatino Linotype" panose="02040502050505030304" pitchFamily="18" charset="0"/>
              </a:rPr>
              <a:t>ing</a:t>
            </a:r>
            <a:r>
              <a:rPr lang="en-US" sz="2200" dirty="0">
                <a:latin typeface="Palatino Linotype" panose="02040502050505030304" pitchFamily="18" charset="0"/>
              </a:rPr>
              <a:t> Ada Lovelace, and sax)</a:t>
            </a:r>
          </a:p>
          <a:p>
            <a:pPr lvl="1"/>
            <a:r>
              <a:rPr lang="en-US" sz="2200" dirty="0" err="1">
                <a:latin typeface="Palatino Linotype" panose="02040502050505030304" pitchFamily="18" charset="0"/>
              </a:rPr>
              <a:t>Hongshuo</a:t>
            </a:r>
            <a:r>
              <a:rPr lang="en-US" sz="2200" dirty="0">
                <a:latin typeface="Palatino Linotype" panose="02040502050505030304" pitchFamily="18" charset="0"/>
              </a:rPr>
              <a:t> Fan (for Music Gesture Recognition)</a:t>
            </a:r>
          </a:p>
          <a:p>
            <a:pPr lvl="1"/>
            <a:r>
              <a:rPr lang="en-US" sz="2200" dirty="0" err="1">
                <a:latin typeface="Palatino Linotype" panose="02040502050505030304" pitchFamily="18" charset="0"/>
              </a:rPr>
              <a:t>Bofan</a:t>
            </a:r>
            <a:r>
              <a:rPr lang="en-US" sz="2200" dirty="0">
                <a:latin typeface="Palatino Linotype" panose="02040502050505030304" pitchFamily="18" charset="0"/>
              </a:rPr>
              <a:t> Ma (for always enabling musicality)</a:t>
            </a:r>
          </a:p>
          <a:p>
            <a:pPr lvl="1"/>
            <a:r>
              <a:rPr lang="en-US" sz="2200" dirty="0">
                <a:latin typeface="Palatino Linotype" panose="02040502050505030304" pitchFamily="18" charset="0"/>
              </a:rPr>
              <a:t>Maria </a:t>
            </a:r>
            <a:r>
              <a:rPr lang="en-US" sz="2200" dirty="0" err="1">
                <a:latin typeface="Palatino Linotype" panose="02040502050505030304" pitchFamily="18" charset="0"/>
              </a:rPr>
              <a:t>Kallionpää</a:t>
            </a:r>
            <a:r>
              <a:rPr lang="en-US" sz="2200" dirty="0">
                <a:latin typeface="Palatino Linotype" panose="02040502050505030304" pitchFamily="18" charset="0"/>
              </a:rPr>
              <a:t> (for Climb!)</a:t>
            </a:r>
          </a:p>
          <a:p>
            <a:pPr lvl="1"/>
            <a:r>
              <a:rPr lang="en-US" sz="2200" dirty="0">
                <a:latin typeface="Palatino Linotype" panose="02040502050505030304" pitchFamily="18" charset="0"/>
              </a:rPr>
              <a:t>Wolfson Digital Research Cluster (for AIMC 2024)</a:t>
            </a:r>
          </a:p>
          <a:p>
            <a:pPr lvl="1"/>
            <a:endParaRPr lang="en-US" dirty="0">
              <a:latin typeface="Palatino Linotype" panose="02040502050505030304" pitchFamily="18" charset="0"/>
            </a:endParaRPr>
          </a:p>
          <a:p>
            <a:pPr lvl="0"/>
            <a:r>
              <a:rPr lang="en-US" sz="2400" i="1" dirty="0">
                <a:latin typeface="Palatino Linotype" panose="02040502050505030304" pitchFamily="18" charset="0"/>
              </a:rPr>
              <a:t>Grand Challenges for Computing Research</a:t>
            </a:r>
            <a:r>
              <a:rPr lang="en-US" sz="2400" dirty="0">
                <a:latin typeface="Palatino Linotype" panose="02040502050505030304" pitchFamily="18" charset="0"/>
              </a:rPr>
              <a:t> – Tony Hoare</a:t>
            </a:r>
          </a:p>
          <a:p>
            <a:endParaRPr lang="en-US" sz="2400" dirty="0">
              <a:latin typeface="Palatino Linotype" panose="02040502050505030304" pitchFamily="18" charset="0"/>
            </a:endParaRPr>
          </a:p>
        </p:txBody>
      </p:sp>
      <p:pic>
        <p:nvPicPr>
          <p:cNvPr id="14" name="Picture 13" descr="A blue and white logo&#10;&#10;Description automatically generated">
            <a:extLst>
              <a:ext uri="{FF2B5EF4-FFF2-40B4-BE49-F238E27FC236}">
                <a16:creationId xmlns:a16="http://schemas.microsoft.com/office/drawing/2014/main" id="{AE2E2FB4-45D4-955A-DA70-41F10F631EA5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92449" y="2074097"/>
            <a:ext cx="741532" cy="741532"/>
          </a:xfrm>
          <a:prstGeom prst="rect">
            <a:avLst/>
          </a:prstGeom>
        </p:spPr>
      </p:pic>
      <p:pic>
        <p:nvPicPr>
          <p:cNvPr id="16" name="Picture 15" descr="torch logo icon">
            <a:extLst>
              <a:ext uri="{FF2B5EF4-FFF2-40B4-BE49-F238E27FC236}">
                <a16:creationId xmlns:a16="http://schemas.microsoft.com/office/drawing/2014/main" id="{AF5C0374-A45C-8F4F-13B3-71AE93C08BDB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80223" y="2077414"/>
            <a:ext cx="737827" cy="737827"/>
          </a:xfrm>
          <a:prstGeom prst="rect">
            <a:avLst/>
          </a:prstGeom>
          <a:noFill/>
          <a:ln>
            <a:noFill/>
          </a:ln>
        </p:spPr>
      </p:pic>
      <p:pic>
        <p:nvPicPr>
          <p:cNvPr id="17" name="Picture 16" descr="performance research logo black">
            <a:extLst>
              <a:ext uri="{FF2B5EF4-FFF2-40B4-BE49-F238E27FC236}">
                <a16:creationId xmlns:a16="http://schemas.microsoft.com/office/drawing/2014/main" id="{4898947E-1E9F-6C26-EC1A-DCA7850E59F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82407" y="3916247"/>
            <a:ext cx="1578927" cy="892113"/>
          </a:xfrm>
          <a:prstGeom prst="rect">
            <a:avLst/>
          </a:prstGeom>
          <a:noFill/>
          <a:ln>
            <a:noFill/>
          </a:ln>
        </p:spPr>
      </p:pic>
      <p:pic>
        <p:nvPicPr>
          <p:cNvPr id="18" name="Picture 17" descr="A green and white logo&#10;&#10;Description automatically generated">
            <a:extLst>
              <a:ext uri="{FF2B5EF4-FFF2-40B4-BE49-F238E27FC236}">
                <a16:creationId xmlns:a16="http://schemas.microsoft.com/office/drawing/2014/main" id="{E44206BB-E239-0EB4-52D5-DB5A84D1386C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2407" y="2994854"/>
            <a:ext cx="1535643" cy="779824"/>
          </a:xfrm>
          <a:prstGeom prst="rect">
            <a:avLst/>
          </a:prstGeom>
        </p:spPr>
      </p:pic>
      <p:pic>
        <p:nvPicPr>
          <p:cNvPr id="19" name="Picture 2" descr="PRiSM logo with text">
            <a:extLst>
              <a:ext uri="{FF2B5EF4-FFF2-40B4-BE49-F238E27FC236}">
                <a16:creationId xmlns:a16="http://schemas.microsoft.com/office/drawing/2014/main" id="{F097A706-7944-CDD7-69C4-1D5CA675F22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418320" y="722397"/>
            <a:ext cx="2079898" cy="8921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" name="Picture 1" descr="Home - Wolfson College">
            <a:extLst>
              <a:ext uri="{FF2B5EF4-FFF2-40B4-BE49-F238E27FC236}">
                <a16:creationId xmlns:a16="http://schemas.microsoft.com/office/drawing/2014/main" id="{E16D70A7-BF5F-F8A7-82FF-A057B33F09FA}"/>
              </a:ext>
            </a:extLst>
          </p:cNvPr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99587" y="4982989"/>
            <a:ext cx="1668788" cy="1668788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265378834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282847-2996-7214-8037-C7F86A4073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13241A-102A-3C3B-86F2-2AD6434B3D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05753"/>
          </a:xfrm>
        </p:spPr>
        <p:txBody>
          <a:bodyPr/>
          <a:lstStyle/>
          <a:p>
            <a:r>
              <a:rPr lang="en-US" dirty="0">
                <a:latin typeface="Garamond" panose="02020404030301010803" pitchFamily="18" charset="0"/>
              </a:rPr>
              <a:t>Radar of the lost arc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A28595-06A4-2AEC-2FC9-2E9E6364543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3902"/>
            <a:ext cx="5085080" cy="5241074"/>
          </a:xfrm>
        </p:spPr>
        <p:txBody>
          <a:bodyPr>
            <a:normAutofit lnSpcReduction="10000"/>
          </a:bodyPr>
          <a:lstStyle/>
          <a:p>
            <a:pPr>
              <a:lnSpc>
                <a:spcPct val="110000"/>
              </a:lnSpc>
            </a:pPr>
            <a:r>
              <a:rPr lang="en-GB" sz="2400" dirty="0">
                <a:latin typeface="Palatino Linotype" panose="02040502050505030304" pitchFamily="18" charset="0"/>
              </a:rPr>
              <a:t>The Grand Challenges Exercise of the UK Computing Research Committee (UKCRC) .</a:t>
            </a:r>
          </a:p>
          <a:p>
            <a:pPr>
              <a:lnSpc>
                <a:spcPct val="110000"/>
              </a:lnSpc>
            </a:pPr>
            <a:r>
              <a:rPr lang="en-GB" sz="2400" dirty="0">
                <a:latin typeface="Palatino Linotype" panose="02040502050505030304" pitchFamily="18" charset="0"/>
              </a:rPr>
              <a:t>Workshop held in Edinburgh November 2002, discussed 109 submissions.</a:t>
            </a:r>
          </a:p>
          <a:p>
            <a:pPr>
              <a:lnSpc>
                <a:spcPct val="110000"/>
              </a:lnSpc>
            </a:pPr>
            <a:r>
              <a:rPr lang="en-GB" sz="2400" dirty="0">
                <a:latin typeface="Palatino Linotype" panose="02040502050505030304" pitchFamily="18" charset="0"/>
              </a:rPr>
              <a:t>Archival research suggests my submission was “The creative electronic musician”. Or maybe “Interactive Electronic Musician”.</a:t>
            </a:r>
          </a:p>
          <a:p>
            <a:pPr>
              <a:lnSpc>
                <a:spcPct val="110000"/>
              </a:lnSpc>
            </a:pPr>
            <a:r>
              <a:rPr lang="en-GB" sz="2400" dirty="0">
                <a:latin typeface="Palatino Linotype" panose="02040502050505030304" pitchFamily="18" charset="0"/>
              </a:rPr>
              <a:t>Tony Hoare was Chair of the programme committee.</a:t>
            </a:r>
          </a:p>
          <a:p>
            <a:pPr>
              <a:lnSpc>
                <a:spcPct val="110000"/>
              </a:lnSpc>
            </a:pPr>
            <a:endParaRPr lang="en-GB" sz="2400" dirty="0">
              <a:latin typeface="Palatino Linotype" panose="02040502050505030304" pitchFamily="18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DB2208F-6F12-79CA-A9C1-4E0A784D3A7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94788" y="1393902"/>
            <a:ext cx="4609251" cy="4717521"/>
          </a:xfrm>
          <a:prstGeom prst="rect">
            <a:avLst/>
          </a:prstGeom>
          <a:ln>
            <a:solidFill>
              <a:srgbClr val="CADCFC"/>
            </a:solidFill>
          </a:ln>
        </p:spPr>
      </p:pic>
      <p:sp>
        <p:nvSpPr>
          <p:cNvPr id="7" name="Right Arrow 6">
            <a:extLst>
              <a:ext uri="{FF2B5EF4-FFF2-40B4-BE49-F238E27FC236}">
                <a16:creationId xmlns:a16="http://schemas.microsoft.com/office/drawing/2014/main" id="{6991674F-8739-AB95-371A-B9C929DC5189}"/>
              </a:ext>
            </a:extLst>
          </p:cNvPr>
          <p:cNvSpPr/>
          <p:nvPr/>
        </p:nvSpPr>
        <p:spPr>
          <a:xfrm>
            <a:off x="6096000" y="3688080"/>
            <a:ext cx="762000" cy="406400"/>
          </a:xfrm>
          <a:prstGeom prst="rightArrow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157725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57F209-013F-6D3B-C37E-800D01E633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782039-95D3-7284-293F-74EF8AB676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39296"/>
            <a:ext cx="10515600" cy="805753"/>
          </a:xfrm>
        </p:spPr>
        <p:txBody>
          <a:bodyPr>
            <a:normAutofit fontScale="90000"/>
          </a:bodyPr>
          <a:lstStyle/>
          <a:p>
            <a:pPr>
              <a:lnSpc>
                <a:spcPct val="100000"/>
              </a:lnSpc>
            </a:pPr>
            <a:r>
              <a:rPr lang="en-GB" dirty="0">
                <a:latin typeface="Palatino Linotype" panose="02040502050505030304" pitchFamily="18" charset="0"/>
              </a:rPr>
              <a:t>Someday my footprints will come but we might not be quite there yet: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2ED06D-6FD1-F54D-1BE3-2C1CCEDA238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901902"/>
            <a:ext cx="9667240" cy="4783061"/>
          </a:xfrm>
        </p:spPr>
        <p:txBody>
          <a:bodyPr>
            <a:normAutofit fontScale="92500" lnSpcReduction="10000"/>
          </a:bodyPr>
          <a:lstStyle/>
          <a:p>
            <a:pPr>
              <a:lnSpc>
                <a:spcPct val="120000"/>
              </a:lnSpc>
            </a:pPr>
            <a:r>
              <a:rPr lang="en-GB" sz="2400" dirty="0">
                <a:latin typeface="Palatino Linotype" panose="02040502050505030304" pitchFamily="18" charset="0"/>
              </a:rPr>
              <a:t>The time feel might be mechanical – lack of </a:t>
            </a:r>
            <a:r>
              <a:rPr lang="en-GB" sz="2400" dirty="0" err="1">
                <a:latin typeface="Palatino Linotype" panose="02040502050505030304" pitchFamily="18" charset="0"/>
              </a:rPr>
              <a:t>microtiming</a:t>
            </a:r>
            <a:r>
              <a:rPr lang="en-GB" sz="2400" dirty="0">
                <a:latin typeface="Palatino Linotype" panose="02040502050505030304" pitchFamily="18" charset="0"/>
              </a:rPr>
              <a:t>, crucial to jazz.</a:t>
            </a:r>
          </a:p>
          <a:p>
            <a:pPr>
              <a:lnSpc>
                <a:spcPct val="120000"/>
              </a:lnSpc>
            </a:pPr>
            <a:r>
              <a:rPr lang="en-GB" sz="2400" dirty="0">
                <a:latin typeface="Palatino Linotype" panose="02040502050505030304" pitchFamily="18" charset="0"/>
              </a:rPr>
              <a:t>Conversation might be too polite, with its strict turn-taking.</a:t>
            </a:r>
          </a:p>
          <a:p>
            <a:pPr>
              <a:lnSpc>
                <a:spcPct val="120000"/>
              </a:lnSpc>
            </a:pPr>
            <a:r>
              <a:rPr lang="en-GB" sz="2400" dirty="0">
                <a:latin typeface="Palatino Linotype" panose="02040502050505030304" pitchFamily="18" charset="0"/>
              </a:rPr>
              <a:t>No personal voice – it’s generalised be-bop.</a:t>
            </a:r>
          </a:p>
          <a:p>
            <a:pPr>
              <a:lnSpc>
                <a:spcPct val="120000"/>
              </a:lnSpc>
            </a:pPr>
            <a:r>
              <a:rPr lang="en-GB" sz="2400" dirty="0">
                <a:latin typeface="Palatino Linotype" panose="02040502050505030304" pitchFamily="18" charset="0"/>
              </a:rPr>
              <a:t>The arc is clock-driven, not music-driven.</a:t>
            </a:r>
          </a:p>
          <a:p>
            <a:pPr>
              <a:lnSpc>
                <a:spcPct val="120000"/>
              </a:lnSpc>
            </a:pPr>
            <a:r>
              <a:rPr lang="en-GB" sz="2400" dirty="0">
                <a:latin typeface="Palatino Linotype" panose="02040502050505030304" pitchFamily="18" charset="0"/>
              </a:rPr>
              <a:t>Motivic development might feel like repetition – because it is.</a:t>
            </a:r>
          </a:p>
          <a:p>
            <a:pPr>
              <a:lnSpc>
                <a:spcPct val="120000"/>
              </a:lnSpc>
            </a:pPr>
            <a:r>
              <a:rPr lang="en-GB" sz="2400" dirty="0">
                <a:latin typeface="Palatino Linotype" panose="02040502050505030304" pitchFamily="18" charset="0"/>
              </a:rPr>
              <a:t>It uses MIDI, so perhaps it inevitably sounds like a very good MIDI file and there’ll be a lack of expression/articulation.</a:t>
            </a:r>
          </a:p>
          <a:p>
            <a:pPr>
              <a:lnSpc>
                <a:spcPct val="120000"/>
              </a:lnSpc>
            </a:pPr>
            <a:r>
              <a:rPr lang="en-GB" sz="2400" dirty="0">
                <a:latin typeface="Palatino Linotype" panose="02040502050505030304" pitchFamily="18" charset="0"/>
              </a:rPr>
              <a:t>The audience might feel it would be better musically if it used a chord progression – but the whole point is that it doesn’t, it’s responsive. There are plenty of play-along programs out there.</a:t>
            </a:r>
          </a:p>
          <a:p>
            <a:pPr>
              <a:lnSpc>
                <a:spcPct val="120000"/>
              </a:lnSpc>
            </a:pPr>
            <a:endParaRPr lang="en-GB" sz="2400" dirty="0">
              <a:latin typeface="Palatino Linotype" panose="02040502050505030304" pitchFamily="18" charset="0"/>
            </a:endParaRPr>
          </a:p>
          <a:p>
            <a:pPr>
              <a:lnSpc>
                <a:spcPct val="120000"/>
              </a:lnSpc>
            </a:pPr>
            <a:endParaRPr lang="en-US" sz="2400" dirty="0">
              <a:latin typeface="Palatino Linotype" panose="0204050205050503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9503914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2889</TotalTime>
  <Words>883</Words>
  <Application>Microsoft Macintosh PowerPoint</Application>
  <PresentationFormat>Widescreen</PresentationFormat>
  <Paragraphs>148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11</vt:i4>
      </vt:variant>
    </vt:vector>
  </HeadingPairs>
  <TitlesOfParts>
    <vt:vector size="20" baseType="lpstr">
      <vt:lpstr>Aptos</vt:lpstr>
      <vt:lpstr>Aptos Display</vt:lpstr>
      <vt:lpstr>Arial</vt:lpstr>
      <vt:lpstr>Calibri</vt:lpstr>
      <vt:lpstr>Garamond</vt:lpstr>
      <vt:lpstr>Optima</vt:lpstr>
      <vt:lpstr>Palatino Linotype</vt:lpstr>
      <vt:lpstr>Office Theme</vt:lpstr>
      <vt:lpstr>1_Office Theme</vt:lpstr>
      <vt:lpstr>Post-bop modal-tonal AI jazz improvisation  Program(me) Notes</vt:lpstr>
      <vt:lpstr>The Ambition</vt:lpstr>
      <vt:lpstr>All the things I have been* thinking about </vt:lpstr>
      <vt:lpstr>Fly me to the moon</vt:lpstr>
      <vt:lpstr>Sentimental journey</vt:lpstr>
      <vt:lpstr>PowerPoint Presentation</vt:lpstr>
      <vt:lpstr>PowerPoint Presentation</vt:lpstr>
      <vt:lpstr>Web Display</vt:lpstr>
      <vt:lpstr>PowerPoint Presentation</vt:lpstr>
      <vt:lpstr>Radar of the lost arc</vt:lpstr>
      <vt:lpstr>Someday my footprints will come but we might not be quite there yet: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David De Roure</dc:creator>
  <cp:lastModifiedBy>David De Roure</cp:lastModifiedBy>
  <cp:revision>27</cp:revision>
  <dcterms:created xsi:type="dcterms:W3CDTF">2026-03-31T17:42:52Z</dcterms:created>
  <dcterms:modified xsi:type="dcterms:W3CDTF">2026-04-02T18:02:06Z</dcterms:modified>
</cp:coreProperties>
</file>