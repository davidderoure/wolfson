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6"/>
  </p:notesMasterIdLst>
  <p:sldIdLst>
    <p:sldId id="256" r:id="rId3"/>
    <p:sldId id="257" r:id="rId4"/>
    <p:sldId id="267" r:id="rId5"/>
    <p:sldId id="259" r:id="rId6"/>
    <p:sldId id="258" r:id="rId7"/>
    <p:sldId id="264" r:id="rId8"/>
    <p:sldId id="262" r:id="rId9"/>
    <p:sldId id="263" r:id="rId10"/>
    <p:sldId id="266" r:id="rId11"/>
    <p:sldId id="260" r:id="rId12"/>
    <p:sldId id="265" r:id="rId13"/>
    <p:sldId id="261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43"/>
    <a:srgbClr val="41FF43"/>
    <a:srgbClr val="FE4144"/>
    <a:srgbClr val="04FFFF"/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30"/>
    <p:restoredTop sz="94700"/>
  </p:normalViewPr>
  <p:slideViewPr>
    <p:cSldViewPr snapToGrid="0">
      <p:cViewPr>
        <p:scale>
          <a:sx n="122" d="100"/>
          <a:sy n="122" d="100"/>
        </p:scale>
        <p:origin x="232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9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72597"/>
            <a:ext cx="9144000" cy="2563187"/>
          </a:xfrm>
        </p:spPr>
        <p:txBody>
          <a:bodyPr>
            <a:normAutofit fontScale="90000"/>
          </a:bodyPr>
          <a:lstStyle/>
          <a:p>
            <a:pPr>
              <a:lnSpc>
                <a:spcPct val="130000"/>
              </a:lnSpc>
            </a:pPr>
            <a:r>
              <a:rPr lang="en-GB" sz="5300" dirty="0">
                <a:latin typeface="Optima" panose="02000503060000020004" pitchFamily="2" charset="0"/>
              </a:rPr>
              <a:t>README</a:t>
            </a:r>
            <a:br>
              <a:rPr lang="en-GB" sz="48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P</a:t>
            </a:r>
            <a:r>
              <a:rPr lang="en-GB" sz="4000" dirty="0">
                <a:latin typeface="Optima" panose="02000503060000020004" pitchFamily="2" charset="0"/>
              </a:rPr>
              <a:t>ost-bop modal-tonal 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07912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5021883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Now’s the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–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858EC-BE46-4923-0D39-C164F7927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Program(me) 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5E14E-53BD-6D82-9D2D-166A7B3B4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9710"/>
            <a:ext cx="10515600" cy="5263165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GB" i="1" dirty="0">
                <a:latin typeface="Palatino Linotype" panose="02040502050505030304" pitchFamily="18" charset="0"/>
              </a:rPr>
              <a:t>README*</a:t>
            </a:r>
            <a:r>
              <a:rPr lang="en-GB" dirty="0">
                <a:latin typeface="Palatino Linotype" panose="02040502050505030304" pitchFamily="18" charset="0"/>
              </a:rPr>
              <a:t> is a live conversation between a human bassist and an artificial musician that listens, responds, and remembers. Wolfson is a computer system trained on hundreds of jazz saxophone solos; it hears each bass phrase, analyses its character – the notes, the rhythm, the energy – and improvises a reply in real time. Over five minutes the music traces a journey through jazz history: an exploratory, chromatic opening gives way to the modal sound of Miles Davis and Herbie Hancock, builds to a hard-driving peak, and settles into a meditative close. No two performances are identical.</a:t>
            </a:r>
          </a:p>
          <a:p>
            <a:pPr marL="0" indent="0">
              <a:buNone/>
            </a:pPr>
            <a:r>
              <a:rPr lang="en-GB" dirty="0">
                <a:latin typeface="Palatino Linotype" panose="02040502050505030304" pitchFamily="18" charset="0"/>
              </a:rPr>
              <a:t> </a:t>
            </a:r>
          </a:p>
          <a:p>
            <a:pPr marL="144000" indent="-457200">
              <a:buNone/>
            </a:pPr>
            <a:r>
              <a:rPr lang="en-GB" sz="2200" dirty="0">
                <a:latin typeface="Palatino Linotype" panose="02040502050505030304" pitchFamily="18" charset="0"/>
              </a:rPr>
              <a:t>* The title works on three levels: the </a:t>
            </a:r>
            <a:r>
              <a:rPr lang="en-GB" sz="2200" i="1" dirty="0">
                <a:latin typeface="Palatino Linotype" panose="02040502050505030304" pitchFamily="18" charset="0"/>
              </a:rPr>
              <a:t>README</a:t>
            </a:r>
            <a:r>
              <a:rPr lang="en-GB" sz="2200" dirty="0">
                <a:latin typeface="Palatino Linotype" panose="02040502050505030304" pitchFamily="18" charset="0"/>
              </a:rPr>
              <a:t> file is the first thing you read when you encounter a piece of software; the software reads me, the bassist, responding to whatever I play; and it is a sideways glance at </a:t>
            </a:r>
            <a:r>
              <a:rPr lang="en-GB" sz="2200" i="1" dirty="0" err="1">
                <a:latin typeface="Palatino Linotype" panose="02040502050505030304" pitchFamily="18" charset="0"/>
              </a:rPr>
              <a:t>Recorda</a:t>
            </a:r>
            <a:r>
              <a:rPr lang="en-GB" sz="2200" i="1" dirty="0">
                <a:latin typeface="Palatino Linotype" panose="02040502050505030304" pitchFamily="18" charset="0"/>
              </a:rPr>
              <a:t> Me</a:t>
            </a:r>
            <a:r>
              <a:rPr lang="en-GB" sz="2200" dirty="0">
                <a:latin typeface="Palatino Linotype" panose="02040502050505030304" pitchFamily="18" charset="0"/>
              </a:rPr>
              <a:t> ("remember me”) a jazz standard, and a reminder that all improvisation is, in some sense, an act of memory.</a:t>
            </a:r>
            <a:endParaRPr lang="en-US" sz="22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2971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504" y="278160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638504" y="1267779"/>
            <a:ext cx="3324085" cy="4950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Leadership &amp; role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Opening echo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Contour steering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Pitch range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Live tempo tracking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Dynamics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Generation temperature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088523" y="1267779"/>
            <a:ext cx="3838549" cy="4950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Phrase-shape dynamics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Bass pitch-class tracking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Scale mode detection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Energy arc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Rhythmic displacement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 breathing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Singable duration bias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620536" y="1267779"/>
            <a:ext cx="4182577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Rhythmic density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Repetition control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Sax riff / insistence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Proactive mode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Live phrase peeking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Beat-synchronised entry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Turn-taking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Loop mode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Arc timing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9450847" y="6318327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6540061" cy="482847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The five giant steps in the performance arc…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8044EB-D1EF-6DA6-B529-1FE2F9EC25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330609"/>
              </p:ext>
            </p:extLst>
          </p:nvPr>
        </p:nvGraphicFramePr>
        <p:xfrm>
          <a:off x="1899744" y="2347445"/>
          <a:ext cx="8022022" cy="378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35318">
                  <a:extLst>
                    <a:ext uri="{9D8B030D-6E8A-4147-A177-3AD203B41FA5}">
                      <a16:colId xmlns:a16="http://schemas.microsoft.com/office/drawing/2014/main" val="2485304831"/>
                    </a:ext>
                  </a:extLst>
                </a:gridCol>
                <a:gridCol w="5286704">
                  <a:extLst>
                    <a:ext uri="{9D8B030D-6E8A-4147-A177-3AD203B41FA5}">
                      <a16:colId xmlns:a16="http://schemas.microsoft.com/office/drawing/2014/main" val="219351318"/>
                    </a:ext>
                  </a:extLst>
                </a:gridCol>
              </a:tblGrid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Sparse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A9A9A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Exploratory, establish motifs slowly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A9A9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5264627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Building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04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Groove warming up, modal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4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926033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Peak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E41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Fast, active, max rhythmic intensity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E41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254695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Recapitulation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41FF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Lyrical return, motifs recalled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41F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07355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Resolution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Slowest, long tones, fading out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5115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journeys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10271234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Shorter), and the atmosphere of </a:t>
            </a:r>
            <a:r>
              <a:rPr lang="en-GB" sz="2200" b="1" dirty="0">
                <a:latin typeface="Palatino Linotype" panose="02040502050505030304" pitchFamily="18" charset="0"/>
              </a:rPr>
              <a:t>In a Silent Way </a:t>
            </a:r>
            <a:r>
              <a:rPr lang="en-GB" sz="2200" dirty="0">
                <a:latin typeface="Palatino Linotype" panose="02040502050505030304" pitchFamily="18" charset="0"/>
              </a:rPr>
              <a:t>(Miles Davis).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also traces a journey through jazz history 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combines hard bop drive with modal intensity,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</a:t>
            </a:r>
            <a:br>
              <a:rPr lang="en-GB" sz="2200" dirty="0">
                <a:latin typeface="Palatino Linotype" panose="02040502050505030304" pitchFamily="18" charset="0"/>
              </a:rPr>
            </a:br>
            <a:r>
              <a:rPr lang="en-GB" sz="2200" dirty="0">
                <a:latin typeface="Palatino Linotype" panose="02040502050505030304" pitchFamily="18" charset="0"/>
              </a:rPr>
              <a:t>e.g. A Love Supreme.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</a:t>
            </a:r>
            <a:r>
              <a:rPr lang="en-GB" sz="2000" i="1" dirty="0">
                <a:latin typeface="Palatino Linotype" panose="02040502050505030304" pitchFamily="18" charset="0"/>
              </a:rPr>
              <a:t>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63227" y="404794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4800" b="1" dirty="0">
                <a:solidFill>
                  <a:srgbClr val="FFFFFF"/>
                </a:solidFill>
                <a:latin typeface="Optima" panose="02000503060000020004" pitchFamily="2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800" dirty="0">
              <a:solidFill>
                <a:prstClr val="black"/>
              </a:solidFill>
              <a:latin typeface="Optima" panose="0200050306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467591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467591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467590"/>
            <a:ext cx="1889760" cy="842091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467591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521530" y="467591"/>
            <a:ext cx="2291561" cy="1426629"/>
          </a:xfrm>
          <a:prstGeom prst="roundRect">
            <a:avLst>
              <a:gd name="adj" fmla="val 16667"/>
            </a:avLst>
          </a:prstGeom>
          <a:solidFill>
            <a:schemeClr val="accent6">
              <a:lumMod val="50000"/>
            </a:schemeClr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82490" y="467591"/>
            <a:ext cx="2197479" cy="583084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209223" y="2380112"/>
            <a:ext cx="3066918" cy="1671258"/>
          </a:xfrm>
          <a:prstGeom prst="roundRect">
            <a:avLst>
              <a:gd name="adj" fmla="val 5333"/>
            </a:avLst>
          </a:prstGeom>
          <a:solidFill>
            <a:schemeClr val="accent6">
              <a:lumMod val="50000"/>
            </a:schemeClr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270183" y="2380111"/>
            <a:ext cx="2957385" cy="537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43759" y="2915185"/>
            <a:ext cx="2881918" cy="1134021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· density · Q&amp;A type · 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· dynamics · energy profile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 · interval motifs · 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635604" y="1858097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635602" y="1939632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868425" y="2254592"/>
            <a:ext cx="2059268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 · beat sync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802643" y="1391665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28510" y="2572083"/>
            <a:ext cx="2585421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89470" y="2659030"/>
            <a:ext cx="2489665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290638" y="3004132"/>
            <a:ext cx="2136852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4735093" y="1340472"/>
            <a:ext cx="607768" cy="34462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415861" y="4522398"/>
            <a:ext cx="5486400" cy="1598319"/>
          </a:xfrm>
          <a:prstGeom prst="roundRect">
            <a:avLst>
              <a:gd name="adj" fmla="val 8000"/>
            </a:avLst>
          </a:prstGeom>
          <a:solidFill>
            <a:schemeClr val="accent6">
              <a:lumMod val="50000"/>
            </a:schemeClr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476821" y="4574896"/>
            <a:ext cx="5364480" cy="33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13397" y="4949478"/>
            <a:ext cx="5291328" cy="915817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· proactive mode · bass pitch-class tracking  ·  energy arc selection · motif + lyrical motif selection  ·  register contrast scheduling · rhythmic density + complementarity  ·  stage swing baseline · opening echo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526922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6526922" y="6183781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845010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814265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Text 10">
            <a:extLst>
              <a:ext uri="{FF2B5EF4-FFF2-40B4-BE49-F238E27FC236}">
                <a16:creationId xmlns:a16="http://schemas.microsoft.com/office/drawing/2014/main" id="{035CAC2A-78AD-68B9-ED4D-6D53C2E1AA41}"/>
              </a:ext>
            </a:extLst>
          </p:cNvPr>
          <p:cNvSpPr/>
          <p:nvPr/>
        </p:nvSpPr>
        <p:spPr>
          <a:xfrm>
            <a:off x="5648890" y="984707"/>
            <a:ext cx="2131078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dur min · min phrase notes · monophony · watchdog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7D6019D4-9F06-D4F8-9055-5C0B69571156}"/>
              </a:ext>
            </a:extLst>
          </p:cNvPr>
          <p:cNvSpPr/>
          <p:nvPr/>
        </p:nvSpPr>
        <p:spPr>
          <a:xfrm>
            <a:off x="358153" y="4886419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F402484E-1CC6-34A6-5E23-247659ED013C}"/>
              </a:ext>
            </a:extLst>
          </p:cNvPr>
          <p:cNvSpPr/>
          <p:nvPr/>
        </p:nvSpPr>
        <p:spPr>
          <a:xfrm>
            <a:off x="358151" y="4967954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Loop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8093E773-011C-6678-EF78-708CE8296041}"/>
              </a:ext>
            </a:extLst>
          </p:cNvPr>
          <p:cNvSpPr/>
          <p:nvPr/>
        </p:nvSpPr>
        <p:spPr>
          <a:xfrm>
            <a:off x="525517" y="5295648"/>
            <a:ext cx="2124721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when bass paused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FD5AEDBA-8E6D-A402-A41C-3F190A48E5BC}"/>
              </a:ext>
            </a:extLst>
          </p:cNvPr>
          <p:cNvSpPr/>
          <p:nvPr/>
        </p:nvSpPr>
        <p:spPr>
          <a:xfrm>
            <a:off x="2725550" y="530091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FE21DA54-651E-97F3-FCC2-BDEA980E4775}"/>
              </a:ext>
            </a:extLst>
          </p:cNvPr>
          <p:cNvSpPr/>
          <p:nvPr/>
        </p:nvSpPr>
        <p:spPr>
          <a:xfrm>
            <a:off x="2959931" y="947823"/>
            <a:ext cx="1721371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algn="ctr"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· routing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14">
            <a:extLst>
              <a:ext uri="{FF2B5EF4-FFF2-40B4-BE49-F238E27FC236}">
                <a16:creationId xmlns:a16="http://schemas.microsoft.com/office/drawing/2014/main" id="{92A60E65-CA67-17DB-181C-9F8648E943B1}"/>
              </a:ext>
            </a:extLst>
          </p:cNvPr>
          <p:cNvSpPr/>
          <p:nvPr/>
        </p:nvSpPr>
        <p:spPr>
          <a:xfrm>
            <a:off x="9794355" y="4712493"/>
            <a:ext cx="1600942" cy="1204769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352390D4-82FD-4455-952D-F476AA9AA7BF}"/>
              </a:ext>
            </a:extLst>
          </p:cNvPr>
          <p:cNvSpPr/>
          <p:nvPr/>
        </p:nvSpPr>
        <p:spPr>
          <a:xfrm>
            <a:off x="9657720" y="4794026"/>
            <a:ext cx="1874213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16">
            <a:extLst>
              <a:ext uri="{FF2B5EF4-FFF2-40B4-BE49-F238E27FC236}">
                <a16:creationId xmlns:a16="http://schemas.microsoft.com/office/drawing/2014/main" id="{EFB27E6D-2224-F7EF-9B39-408E4E2321B9}"/>
              </a:ext>
            </a:extLst>
          </p:cNvPr>
          <p:cNvSpPr/>
          <p:nvPr/>
        </p:nvSpPr>
        <p:spPr>
          <a:xfrm>
            <a:off x="10053749" y="5204682"/>
            <a:ext cx="1118266" cy="52354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web · OSC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13">
            <a:extLst>
              <a:ext uri="{FF2B5EF4-FFF2-40B4-BE49-F238E27FC236}">
                <a16:creationId xmlns:a16="http://schemas.microsoft.com/office/drawing/2014/main" id="{28421045-6A50-0F48-313C-CC5E248B2CB2}"/>
              </a:ext>
            </a:extLst>
          </p:cNvPr>
          <p:cNvSpPr/>
          <p:nvPr/>
        </p:nvSpPr>
        <p:spPr>
          <a:xfrm>
            <a:off x="9070199" y="5329974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78BEAAC7-0D2B-B745-2590-3480E25C69AD}"/>
              </a:ext>
            </a:extLst>
          </p:cNvPr>
          <p:cNvSpPr/>
          <p:nvPr/>
        </p:nvSpPr>
        <p:spPr>
          <a:xfrm>
            <a:off x="3802643" y="2817527"/>
            <a:ext cx="0" cy="1543454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CB67F83E-D73C-A10F-7608-64C83241BF3F}"/>
              </a:ext>
            </a:extLst>
          </p:cNvPr>
          <p:cNvSpPr/>
          <p:nvPr/>
        </p:nvSpPr>
        <p:spPr>
          <a:xfrm>
            <a:off x="6603650" y="1939632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42578BFA-6C86-5D73-0B4B-8BC48A96B8F6}"/>
              </a:ext>
            </a:extLst>
          </p:cNvPr>
          <p:cNvSpPr/>
          <p:nvPr/>
        </p:nvSpPr>
        <p:spPr>
          <a:xfrm>
            <a:off x="8463350" y="3215879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24">
            <a:extLst>
              <a:ext uri="{FF2B5EF4-FFF2-40B4-BE49-F238E27FC236}">
                <a16:creationId xmlns:a16="http://schemas.microsoft.com/office/drawing/2014/main" id="{D519FCAC-D1D8-351F-5F22-865612018EEF}"/>
              </a:ext>
            </a:extLst>
          </p:cNvPr>
          <p:cNvSpPr/>
          <p:nvPr/>
        </p:nvSpPr>
        <p:spPr>
          <a:xfrm flipH="1">
            <a:off x="9057465" y="4070714"/>
            <a:ext cx="607768" cy="35356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308575" y="240298"/>
            <a:ext cx="3115243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Optima" panose="02000503060000020004" pitchFamily="2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800" dirty="0">
              <a:solidFill>
                <a:prstClr val="black"/>
              </a:solidFill>
              <a:latin typeface="Optima" panose="0200050306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46605" y="419226"/>
            <a:ext cx="2767053" cy="536448"/>
          </a:xfrm>
          <a:prstGeom prst="roundRect">
            <a:avLst>
              <a:gd name="adj" fmla="val 18182"/>
            </a:avLst>
          </a:prstGeom>
          <a:solidFill>
            <a:schemeClr val="accent6">
              <a:lumMod val="50000"/>
            </a:schemeClr>
          </a:solidFill>
          <a:ln w="25400">
            <a:solidFill>
              <a:srgbClr val="CADCFC"/>
            </a:solidFill>
            <a:prstDash val="dash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435571" y="419226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419935" y="1505989"/>
            <a:ext cx="4420393" cy="717212"/>
          </a:xfrm>
          <a:prstGeom prst="roundRect">
            <a:avLst>
              <a:gd name="adj" fmla="val 15385"/>
            </a:avLst>
          </a:prstGeom>
          <a:solidFill>
            <a:schemeClr val="accent6">
              <a:lumMod val="50000"/>
            </a:schemeClr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2291" y="158921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36290" y="189516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algn="ctr"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· progression · pedal ·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385103" y="2703894"/>
            <a:ext cx="6490056" cy="1786648"/>
          </a:xfrm>
          <a:prstGeom prst="roundRect">
            <a:avLst>
              <a:gd name="adj" fmla="val 6780"/>
            </a:avLst>
          </a:prstGeom>
          <a:solidFill>
            <a:schemeClr val="accent6">
              <a:lumMod val="50000"/>
            </a:schemeClr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37442" y="2772269"/>
            <a:ext cx="6385378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80383" y="3121305"/>
            <a:ext cx="6242437" cy="1279645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· chord conditioning  · pitch range limits · register gravity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 · swing/triplet bias · energy arc shaping · long-note penalty · singable duration bias  ·  motivic development · voice leading  ·  modal leap · bonus (P4/P5)  ·  repetition penalty · rest injection  ·  beat accumulator · rhythmic displacement</a:t>
            </a:r>
          </a:p>
          <a:p>
            <a:pPr defTabSz="1219170"/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672952" y="5162267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dash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466748" y="5256840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079454" y="5622600"/>
            <a:ext cx="1405880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 · recall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880852" y="3037885"/>
            <a:ext cx="2183191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880853" y="3167600"/>
            <a:ext cx="2102332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077649" y="3623987"/>
            <a:ext cx="1938984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WJD sax solos · 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49-token chord vocab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694245" y="5162267"/>
            <a:ext cx="2316480" cy="998153"/>
          </a:xfrm>
          <a:prstGeom prst="roundRect">
            <a:avLst>
              <a:gd name="adj" fmla="val 17391"/>
            </a:avLst>
          </a:prstGeom>
          <a:solidFill>
            <a:schemeClr val="accent6">
              <a:lumMod val="50000"/>
            </a:schemeClr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755205" y="5256839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29622" y="5581034"/>
            <a:ext cx="1886818" cy="57938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· peak accent ·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799587" y="573525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671048" y="5735259"/>
            <a:ext cx="1745341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hint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989910" y="2757210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5848685" y="4670250"/>
            <a:ext cx="16080" cy="42682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630131" y="2310693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 flipV="1">
            <a:off x="8093940" y="3602773"/>
            <a:ext cx="514514" cy="784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25">
            <a:extLst>
              <a:ext uri="{FF2B5EF4-FFF2-40B4-BE49-F238E27FC236}">
                <a16:creationId xmlns:a16="http://schemas.microsoft.com/office/drawing/2014/main" id="{4583DD6A-C613-B405-EAE6-8416DC69717E}"/>
              </a:ext>
            </a:extLst>
          </p:cNvPr>
          <p:cNvSpPr/>
          <p:nvPr/>
        </p:nvSpPr>
        <p:spPr>
          <a:xfrm>
            <a:off x="7799587" y="5168221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8D64C15-18D0-D71F-2D4C-F78FC3266243}"/>
              </a:ext>
            </a:extLst>
          </p:cNvPr>
          <p:cNvSpPr/>
          <p:nvPr/>
        </p:nvSpPr>
        <p:spPr>
          <a:xfrm>
            <a:off x="7856316" y="5168221"/>
            <a:ext cx="1374805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voice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6B0AC4B-78C1-CBB0-9E89-0366A38A8E1A}"/>
              </a:ext>
            </a:extLst>
          </p:cNvPr>
          <p:cNvSpPr/>
          <p:nvPr/>
        </p:nvSpPr>
        <p:spPr>
          <a:xfrm>
            <a:off x="4630131" y="1039761"/>
            <a:ext cx="0" cy="338954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85F9F7E0-B27F-EA01-5C53-5E0E71DBBC45}"/>
              </a:ext>
            </a:extLst>
          </p:cNvPr>
          <p:cNvSpPr/>
          <p:nvPr/>
        </p:nvSpPr>
        <p:spPr>
          <a:xfrm>
            <a:off x="2857032" y="4897482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CCF5EC3B-866D-5734-74B1-BD939336B4C5}"/>
              </a:ext>
            </a:extLst>
          </p:cNvPr>
          <p:cNvSpPr/>
          <p:nvPr/>
        </p:nvSpPr>
        <p:spPr>
          <a:xfrm>
            <a:off x="2857032" y="4630830"/>
            <a:ext cx="0" cy="386824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A605903D-DB64-C634-8268-01A725C89271}"/>
              </a:ext>
            </a:extLst>
          </p:cNvPr>
          <p:cNvSpPr/>
          <p:nvPr/>
        </p:nvSpPr>
        <p:spPr>
          <a:xfrm flipH="1" flipV="1">
            <a:off x="8023562" y="3597732"/>
            <a:ext cx="402012" cy="784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C5AAE1E2-D6EA-0B2B-E70C-8FF79A826F5A}"/>
              </a:ext>
            </a:extLst>
          </p:cNvPr>
          <p:cNvSpPr/>
          <p:nvPr/>
        </p:nvSpPr>
        <p:spPr>
          <a:xfrm>
            <a:off x="7225867" y="5391521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13">
            <a:extLst>
              <a:ext uri="{FF2B5EF4-FFF2-40B4-BE49-F238E27FC236}">
                <a16:creationId xmlns:a16="http://schemas.microsoft.com/office/drawing/2014/main" id="{7B1771F1-1D98-213C-074B-90E09B852FDD}"/>
              </a:ext>
            </a:extLst>
          </p:cNvPr>
          <p:cNvSpPr/>
          <p:nvPr/>
        </p:nvSpPr>
        <p:spPr>
          <a:xfrm>
            <a:off x="7225867" y="5893719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Soul A-eyes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355493"/>
            <a:ext cx="5199271" cy="39417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355494"/>
            <a:ext cx="4592481" cy="39417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672576" y="5586932"/>
            <a:ext cx="68468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Optima" panose="02000503060000020004" pitchFamily="2" charset="0"/>
              </a:rPr>
              <a:t>Watch live during the performance on </a:t>
            </a:r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903249"/>
            <a:ext cx="8400393" cy="5273714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Ada Lovelace &amp; Emily Howard (for Numbers into Notes)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Cluster, </a:t>
            </a:r>
            <a:r>
              <a:rPr lang="en-US" sz="2200" dirty="0" err="1">
                <a:latin typeface="Palatino Linotype" panose="02040502050505030304" pitchFamily="18" charset="0"/>
              </a:rPr>
              <a:t>DiSc</a:t>
            </a:r>
            <a:r>
              <a:rPr lang="en-US" sz="2200" dirty="0">
                <a:latin typeface="Palatino Linotype" panose="02040502050505030304" pitchFamily="18" charset="0"/>
              </a:rPr>
              <a:t> &amp; TORCH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AD0A14B-CE5A-5EE7-E773-A86177200389}"/>
              </a:ext>
            </a:extLst>
          </p:cNvPr>
          <p:cNvSpPr/>
          <p:nvPr/>
        </p:nvSpPr>
        <p:spPr>
          <a:xfrm>
            <a:off x="6747644" y="365125"/>
            <a:ext cx="5276193" cy="6269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662" y="365125"/>
            <a:ext cx="10681138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662" y="1393902"/>
            <a:ext cx="5221912" cy="5241074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“The Grand Challenges Exercise of the UK Computing Research Committee”</a:t>
            </a:r>
          </a:p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A workshop held in Edinburgh in November 2002, considered 109 submissions.</a:t>
            </a:r>
          </a:p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Sir Tony Hoare, Wolfson Emeritus Fellow, was Chair of the programme committee.</a:t>
            </a:r>
          </a:p>
          <a:p>
            <a:pPr>
              <a:lnSpc>
                <a:spcPct val="110000"/>
              </a:lnSpc>
            </a:pPr>
            <a:endParaRPr lang="en-GB" sz="22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502" y="1686400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5705821" y="3934819"/>
            <a:ext cx="61482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F1EAC7-9720-561B-E6BA-A0424A5D5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8478" y="623826"/>
            <a:ext cx="5042991" cy="103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538" y="539296"/>
            <a:ext cx="109728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158" y="1807309"/>
            <a:ext cx="5439103" cy="4783061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It uses MIDI: no pitch inflection, vibrato, or continuous dynamics within notes – every note is a rectangle.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Time feel is mechanical within phrases: no </a:t>
            </a:r>
            <a:r>
              <a:rPr lang="en-GB" sz="1800" dirty="0" err="1">
                <a:latin typeface="Palatino Linotype" panose="02040502050505030304" pitchFamily="18" charset="0"/>
              </a:rPr>
              <a:t>microtiming</a:t>
            </a:r>
            <a:r>
              <a:rPr lang="en-GB" sz="1800" dirty="0">
                <a:latin typeface="Palatino Linotype" panose="02040502050505030304" pitchFamily="18" charset="0"/>
              </a:rPr>
              <a:t>, no laying back or pushing the beat.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Conversation is polite by design – complementary, never confrontational, doesn't interrupt, crowd the register, or refuse to listen..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It’s pretty much in 4/4, no waltzes or take 5 – the tempo estimator assumes equal beats.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No personal voice – an amalgam across an era rather than any one player's sound.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The arc is clock-driven, not music-driven – deliberately for this performance (but see </a:t>
            </a:r>
            <a:r>
              <a:rPr lang="en-GB" sz="1800" i="1" dirty="0">
                <a:latin typeface="Palatino Linotype" panose="02040502050505030304" pitchFamily="18" charset="0"/>
              </a:rPr>
              <a:t>Climb!</a:t>
            </a:r>
            <a:r>
              <a:rPr lang="en-GB" sz="1800" dirty="0">
                <a:latin typeface="Palatino Linotype" panose="02040502050505030304" pitchFamily="18" charset="0"/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400"/>
              </a:spcBef>
              <a:buNone/>
            </a:pPr>
            <a:endParaRPr lang="en-US" sz="1800" dirty="0">
              <a:latin typeface="Palatino Linotype" panose="02040502050505030304" pitchFamily="18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3CDFF8-B9FA-96D8-F02B-E6002511B187}"/>
              </a:ext>
            </a:extLst>
          </p:cNvPr>
          <p:cNvSpPr txBox="1">
            <a:spLocks/>
          </p:cNvSpPr>
          <p:nvPr/>
        </p:nvSpPr>
        <p:spPr>
          <a:xfrm>
            <a:off x="6032938" y="1807309"/>
            <a:ext cx="5680840" cy="4783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Trained on solos not melodies – no quoting, no playing off the tune.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Trained on one era and school – the bebop/hard-bop vocabulary of the Weimar Jazz Database; no awareness of what came before or after.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Inside/outside distinction and narrative arc within a phrase could be designed more explicitly –  the model has learned some of this from transcriptions.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It only listens to one instrument (but see </a:t>
            </a:r>
            <a:r>
              <a:rPr lang="en-GB" sz="1800" i="1" dirty="0">
                <a:latin typeface="Palatino Linotype" panose="02040502050505030304" pitchFamily="18" charset="0"/>
              </a:rPr>
              <a:t>Forager)</a:t>
            </a:r>
            <a:r>
              <a:rPr lang="en-GB" sz="1800" dirty="0">
                <a:latin typeface="Palatino Linotype" panose="02040502050505030304" pitchFamily="18" charset="0"/>
              </a:rPr>
              <a:t>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Audiences may find fixed, familiar harmony more immediately satisfying – responsiveness to the bassist means harmony is earned rather than given.</a:t>
            </a: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E34A2-E14E-88B2-84AD-728BF95CC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581200"/>
            <a:ext cx="12164959" cy="5682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806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24650</TotalTime>
  <Words>1304</Words>
  <Application>Microsoft Macintosh PowerPoint</Application>
  <PresentationFormat>Widescreen</PresentationFormat>
  <Paragraphs>153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README Post-bop modal-tonal AI jazz improvisation  Program(me) Notes</vt:lpstr>
      <vt:lpstr>Now’s the time</vt:lpstr>
      <vt:lpstr>Program(me) Note</vt:lpstr>
      <vt:lpstr>All the things I have been* thinking about </vt:lpstr>
      <vt:lpstr>Fly me to the moon</vt:lpstr>
      <vt:lpstr>Sentimental journeys</vt:lpstr>
      <vt:lpstr>PowerPoint Presentation</vt:lpstr>
      <vt:lpstr>PowerPoint Presentation</vt:lpstr>
      <vt:lpstr>Soul A-eyes</vt:lpstr>
      <vt:lpstr>PowerPoint Presentation</vt:lpstr>
      <vt:lpstr>Radar of the lost archive</vt:lpstr>
      <vt:lpstr>Someday my footprints will come but we might not be quite there yet: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57</cp:revision>
  <dcterms:created xsi:type="dcterms:W3CDTF">2026-03-31T17:42:52Z</dcterms:created>
  <dcterms:modified xsi:type="dcterms:W3CDTF">2026-04-17T20:42:55Z</dcterms:modified>
</cp:coreProperties>
</file>