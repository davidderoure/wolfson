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67" r:id="rId5"/>
    <p:sldId id="259" r:id="rId6"/>
    <p:sldId id="258" r:id="rId7"/>
    <p:sldId id="264" r:id="rId8"/>
    <p:sldId id="262" r:id="rId9"/>
    <p:sldId id="263" r:id="rId10"/>
    <p:sldId id="266" r:id="rId11"/>
    <p:sldId id="260" r:id="rId12"/>
    <p:sldId id="265" r:id="rId13"/>
    <p:sldId id="261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43"/>
    <a:srgbClr val="41FF43"/>
    <a:srgbClr val="FE4144"/>
    <a:srgbClr val="04FFFF"/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700"/>
  </p:normalViewPr>
  <p:slideViewPr>
    <p:cSldViewPr snapToGrid="0">
      <p:cViewPr>
        <p:scale>
          <a:sx n="122" d="100"/>
          <a:sy n="122" d="100"/>
        </p:scale>
        <p:origin x="23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23DB7-7F8E-0241-8824-58FDBBD2EE9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25BD8-DB9E-B04B-ACC5-175F26D7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5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0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65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28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07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4EE45-609D-D677-B43A-1B23ED1C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766DD-6C9D-4F48-DE19-C2C90B38D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DCF14-5DDD-BC52-2EC2-7F5531F58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2C179-DB8F-F062-1E98-FE92A957E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4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8DB4-873F-D49B-5A6A-3D1AD0B5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702C7-345E-C75D-A328-9874576E5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26AAB-6AC5-03EA-2E51-800B480EB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E4B0-9E74-D132-25BB-AF4F714DB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31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57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1B4C-8A5F-7E1F-D717-55863195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2E02D-EE58-F0A1-BE05-F7E7B94B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1559A-18A7-1297-B352-2C739F8E7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4B99C-77BF-2D3F-489B-53F92A58E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8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5BD8-DB9E-B04B-ACC5-175F26D74A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3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81FB-0BB1-B7BD-36AC-4E6C823F6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AC6F3-73BB-1EF1-27B3-BA6857F5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DB308-FCA4-CF56-117A-C49759D5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0ECCF-F897-92F3-6136-A8CACD5A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F27F-808E-B281-6F32-E5BECA43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1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ECBC-8E90-CEE0-2CBA-2D0FAD6D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0E35-DBB3-0BE1-D399-61AB5B13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BF18-8D7A-AC84-858B-54892D17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1A0CA-1388-0822-6C60-74B35587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B9B6-8013-EA21-B4B5-DD54B2E9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9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4A8C-6C8D-D97B-1B33-1FF4DA08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624D-4B1F-2831-F78F-6E7D77DC5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EAB85-A2D9-0B04-95FF-957A6EBF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38157-9E12-7604-4108-BFC8DFDA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2CA78-0063-B681-83A9-91E7927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A8F4-9896-E1B3-FB85-B4064805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A1B1-ABB1-1FE7-7E24-99552756F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8B9EA-0804-3557-A8DB-E7AD2CE4A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3C1BE-522D-AB35-135F-8B0B9A94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406F8-8D5F-DED1-0FD4-FAF9358C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E894C-4995-85C8-072A-F9190A7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3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7DCD-E703-A4C2-BB9F-88521C4E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6A6F1-D94A-2C1E-127D-C78F97869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5B5D3-8A32-B4DA-C96B-7FE8EDDE9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E48F5-E3C1-76F3-65DD-E326BD72A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C9CF7-2E2F-3EF7-41C2-1A8C10757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3520B-FD72-F4D6-9E33-4FF46F29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B5B32-DE0A-3D8C-EC8F-39F70FB7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FC483-DCC9-0190-0C41-A87C115A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2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3715-9280-DC7D-BFFC-38D935D1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6A1E6-6F8C-88B9-E5E9-CAC2640D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98206-BD80-AFC6-317B-DCC4F76D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FDF83-D75B-F0BF-6EA3-A2E6A430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3684D-5101-297D-6104-2CA96ED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B0C6F-DBE9-DCC4-82A1-E90151F2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563AD-8718-3752-6D33-5E9B1CE9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29B1-01C2-3C9C-1EB4-01EC9AFC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8B5AA-E136-AFA0-C213-F3DD160E5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49B9-75FF-1DF4-2319-656E49DF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D1598-6AE0-69B4-EC4A-9714727D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1E574-6DCC-8C0B-1253-30D61C78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B22A3-CB57-9361-4281-C0166BF1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6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2AF0-389D-7A88-214E-C1D9BA1B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A3311-D059-C611-3043-74DEDF8A4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41F16-48E3-3C09-EF4C-99A2C4202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009EA-467A-CA07-EBE6-583E5725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19962-79FF-0B91-5926-FEE54B81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96FCE-F7BE-208E-2645-ED3D144F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3679-01F5-A072-965A-1C7D8EDA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28CF3-B43F-BDD4-12B9-26BB63993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9A48-EF43-15DB-AE16-2F0BF37D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0C31C-25EC-E3AE-67A7-FDF12AD5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5424-C63C-6DB5-B5C5-30A30129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7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2B524-8DE1-7862-6EA3-63EB21599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A6484-BB7C-B3C9-FF39-B4B93B305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100C5-819F-506B-D214-4F18D964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3F89-DB8D-DB23-BE25-F2AAA936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5C5E-582A-1A04-F0A3-16FAA667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70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57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DAD6C-AB43-3429-CC77-7587D8D8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E734B-9CFC-2B6E-2322-2E18DBF53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B226-8340-6F9D-550B-144E72185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87482-337B-0C49-8B44-90FE2531483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C7BA1-8F87-1B71-B4FF-363053631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5E4E7-9EEE-A3FA-E13B-8B8222964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3B367-EFD8-7E46-8D2C-B33701C7C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3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79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github.com/davidderoure/wolfson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A699-8710-D357-00D5-77458DA81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2597"/>
            <a:ext cx="9144000" cy="2563187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GB" sz="5300" dirty="0">
                <a:latin typeface="Optima" panose="02000503060000020004" pitchFamily="2" charset="0"/>
              </a:rPr>
              <a:t>README</a:t>
            </a:r>
            <a:br>
              <a:rPr lang="en-GB" sz="4800" dirty="0">
                <a:latin typeface="Optima" panose="02000503060000020004" pitchFamily="2" charset="0"/>
              </a:rPr>
            </a:br>
            <a:r>
              <a:rPr lang="en-GB" sz="4400" dirty="0">
                <a:latin typeface="Optima" panose="02000503060000020004" pitchFamily="2" charset="0"/>
              </a:rPr>
              <a:t>P</a:t>
            </a:r>
            <a:r>
              <a:rPr lang="en-GB" sz="4000" dirty="0">
                <a:latin typeface="Optima" panose="02000503060000020004" pitchFamily="2" charset="0"/>
              </a:rPr>
              <a:t>ost-bop modal-tonal AI jazz improvisation</a:t>
            </a:r>
            <a:br>
              <a:rPr lang="en-GB" sz="4400" dirty="0">
                <a:latin typeface="Optima" panose="02000503060000020004" pitchFamily="2" charset="0"/>
              </a:rPr>
            </a:br>
            <a:br>
              <a:rPr lang="en-GB" sz="1200" dirty="0">
                <a:latin typeface="Optima" panose="02000503060000020004" pitchFamily="2" charset="0"/>
              </a:rPr>
            </a:br>
            <a:r>
              <a:rPr lang="en-GB" sz="3200" dirty="0">
                <a:latin typeface="Optima" panose="02000503060000020004" pitchFamily="2" charset="0"/>
              </a:rPr>
              <a:t>Program(me) Notes</a:t>
            </a:r>
            <a:endParaRPr lang="en-US" dirty="0">
              <a:latin typeface="Optima" panose="0200050306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8886A-E50C-161E-3C72-36B38A6E4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7912"/>
            <a:ext cx="9144000" cy="108204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Optima" panose="02000503060000020004" pitchFamily="2" charset="0"/>
              </a:rPr>
              <a:t>David De Roure</a:t>
            </a:r>
          </a:p>
          <a:p>
            <a:endParaRPr lang="en-US" sz="100" dirty="0">
              <a:latin typeface="Optima" panose="02000503060000020004" pitchFamily="2" charset="0"/>
            </a:endParaRPr>
          </a:p>
          <a:p>
            <a:r>
              <a:rPr lang="en-US" sz="2000" dirty="0" err="1">
                <a:latin typeface="Optima" panose="02000503060000020004" pitchFamily="2" charset="0"/>
              </a:rPr>
              <a:t>david.deroure@wolfson.ox.ac.uk</a:t>
            </a:r>
            <a:endParaRPr lang="en-US" sz="2000" dirty="0">
              <a:latin typeface="Optima" panose="02000503060000020004" pitchFamily="2" charset="0"/>
            </a:endParaRPr>
          </a:p>
        </p:txBody>
      </p:sp>
      <p:pic>
        <p:nvPicPr>
          <p:cNvPr id="5" name="Picture 4" descr="Home - Wolfson College">
            <a:extLst>
              <a:ext uri="{FF2B5EF4-FFF2-40B4-BE49-F238E27FC236}">
                <a16:creationId xmlns:a16="http://schemas.microsoft.com/office/drawing/2014/main" id="{A7C82090-5E62-E1A6-E4B4-C8D4DACEC1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606" y="5021883"/>
            <a:ext cx="1668788" cy="16687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1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C88F-AE6F-DB2A-FA04-F7000EBF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753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Now’s the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520F-7551-5696-EDB0-7C99BDEC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902"/>
            <a:ext cx="10078844" cy="5018049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Palatino Linotype" panose="02040502050505030304" pitchFamily="18" charset="0"/>
              </a:rPr>
              <a:t>Back in the late 1900s I was part of a jazz workshop helping people learn to play jazz.</a:t>
            </a:r>
          </a:p>
          <a:p>
            <a:r>
              <a:rPr lang="en-GB" sz="2400" dirty="0">
                <a:latin typeface="Palatino Linotype" panose="02040502050505030304" pitchFamily="18" charset="0"/>
              </a:rPr>
              <a:t>﻿﻿One of the exercises was called "slick licks" – we would sit in a circle and “trade licks” on our instruments.</a:t>
            </a:r>
          </a:p>
          <a:p>
            <a:r>
              <a:rPr lang="en-GB" sz="2400" dirty="0">
                <a:latin typeface="Palatino Linotype" panose="02040502050505030304" pitchFamily="18" charset="0"/>
              </a:rPr>
              <a:t>A big barrier for jazz learners can be finding people to play with.</a:t>
            </a:r>
          </a:p>
          <a:p>
            <a:r>
              <a:rPr lang="en-GB" sz="2400" dirty="0">
                <a:latin typeface="Palatino Linotype" panose="02040502050505030304" pitchFamily="18" charset="0"/>
              </a:rPr>
              <a:t>﻿﻿Q. Can I build a software system to enable people to practice their slick licks? And specifically… can a bass player use this?!</a:t>
            </a:r>
          </a:p>
          <a:p>
            <a:r>
              <a:rPr lang="en-GB" sz="2400" dirty="0">
                <a:latin typeface="Palatino Linotype" panose="02040502050505030304" pitchFamily="18" charset="0"/>
              </a:rPr>
              <a:t>It should listen and respond, sometimes lead, be realistic enough to be useful. </a:t>
            </a:r>
          </a:p>
          <a:p>
            <a:r>
              <a:rPr lang="en-GB" sz="2400" dirty="0">
                <a:latin typeface="Palatino Linotype" panose="02040502050505030304" pitchFamily="18" charset="0"/>
              </a:rPr>
              <a:t>NB This interactive “robot”</a:t>
            </a:r>
            <a:r>
              <a:rPr lang="en-GB" sz="2400" i="1" dirty="0">
                <a:latin typeface="Palatino Linotype" panose="02040502050505030304" pitchFamily="18" charset="0"/>
              </a:rPr>
              <a:t> </a:t>
            </a:r>
            <a:r>
              <a:rPr lang="en-GB" sz="2400" dirty="0">
                <a:latin typeface="Palatino Linotype" panose="02040502050505030304" pitchFamily="18" charset="0"/>
              </a:rPr>
              <a:t>is</a:t>
            </a:r>
            <a:r>
              <a:rPr lang="en-GB" sz="2400" i="1" dirty="0">
                <a:latin typeface="Palatino Linotype" panose="02040502050505030304" pitchFamily="18" charset="0"/>
              </a:rPr>
              <a:t> </a:t>
            </a:r>
            <a:r>
              <a:rPr lang="en-GB" sz="2400" dirty="0">
                <a:latin typeface="Palatino Linotype" panose="02040502050505030304" pitchFamily="18" charset="0"/>
              </a:rPr>
              <a:t>designed for practice purposes, and it's not intended to replace a human player. Human interaction was key to slick licks!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82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58EC-BE46-4923-0D39-C164F792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Program(me)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5E14E-53BD-6D82-9D2D-166A7B3B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710"/>
            <a:ext cx="10515600" cy="526316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i="1" dirty="0">
                <a:latin typeface="Palatino Linotype" panose="02040502050505030304" pitchFamily="18" charset="0"/>
              </a:rPr>
              <a:t>README*</a:t>
            </a:r>
            <a:r>
              <a:rPr lang="en-GB" dirty="0">
                <a:latin typeface="Palatino Linotype" panose="02040502050505030304" pitchFamily="18" charset="0"/>
              </a:rPr>
              <a:t> is a live conversation between a human bassist and an artificial musician that listens, responds, and remembers. Wolfson is a computer system trained on hundreds of jazz saxophone solos; it hears each bass phrase, analyses its character – the notes, the rhythm, the energy – and improvises a reply in real time. Over five minutes the music traces a journey through jazz history: an exploratory, chromatic opening gives way to the modal sound of Miles Davis and Herbie Hancock, builds to a hard-driving peak, and settles into a meditative close. No two performances are identical — the music that emerges depends entirely on what the bassist chooses to play.</a:t>
            </a:r>
          </a:p>
          <a:p>
            <a:pPr marL="0" indent="0">
              <a:buNone/>
            </a:pPr>
            <a:r>
              <a:rPr lang="en-GB" dirty="0">
                <a:latin typeface="Palatino Linotype" panose="02040502050505030304" pitchFamily="18" charset="0"/>
              </a:rPr>
              <a:t> </a:t>
            </a:r>
          </a:p>
          <a:p>
            <a:pPr marL="144000" indent="-45720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2200" dirty="0">
                <a:latin typeface="Palatino Linotype" panose="02040502050505030304" pitchFamily="18" charset="0"/>
              </a:rPr>
              <a:t>* The title works on three levels: the </a:t>
            </a:r>
            <a:r>
              <a:rPr lang="en-GB" sz="2200" i="1" dirty="0">
                <a:latin typeface="Palatino Linotype" panose="02040502050505030304" pitchFamily="18" charset="0"/>
              </a:rPr>
              <a:t>README</a:t>
            </a:r>
            <a:r>
              <a:rPr lang="en-GB" sz="2200" dirty="0">
                <a:latin typeface="Palatino Linotype" panose="02040502050505030304" pitchFamily="18" charset="0"/>
              </a:rPr>
              <a:t> file is the first thing you read when you encounter a piece of software; the software reads me, the bassist, responding to whatever I play; and it is a sideways glance at </a:t>
            </a:r>
            <a:r>
              <a:rPr lang="en-GB" sz="2200" i="1" dirty="0" err="1">
                <a:latin typeface="Palatino Linotype" panose="02040502050505030304" pitchFamily="18" charset="0"/>
              </a:rPr>
              <a:t>Recorda</a:t>
            </a:r>
            <a:r>
              <a:rPr lang="en-GB" sz="2200" i="1" dirty="0">
                <a:latin typeface="Palatino Linotype" panose="02040502050505030304" pitchFamily="18" charset="0"/>
              </a:rPr>
              <a:t> Me</a:t>
            </a:r>
            <a:r>
              <a:rPr lang="en-GB" sz="2200" dirty="0">
                <a:latin typeface="Palatino Linotype" panose="02040502050505030304" pitchFamily="18" charset="0"/>
              </a:rPr>
              <a:t> ("remember me”) a jazz standard, and a reminder that all improvisation is, in some sense, an act of memory.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97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ABF3-8A46-2D39-4B69-7D653919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8CE5-E8E0-C4B1-5023-E87C6B69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504" y="278160"/>
            <a:ext cx="10515600" cy="805753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All the things I have been</a:t>
            </a:r>
            <a:r>
              <a:rPr lang="en-US" baseline="30000" dirty="0">
                <a:latin typeface="Optima" panose="02000503060000020004" pitchFamily="2" charset="0"/>
              </a:rPr>
              <a:t>*</a:t>
            </a:r>
            <a:r>
              <a:rPr lang="en-US" dirty="0">
                <a:latin typeface="Optima" panose="02000503060000020004" pitchFamily="2" charset="0"/>
              </a:rPr>
              <a:t> thinking about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AA6F-DAF5-13CA-340F-76911425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902"/>
            <a:ext cx="10515600" cy="4783061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FBBEE-44A6-7FC5-BA96-97C3F7AD7DA8}"/>
              </a:ext>
            </a:extLst>
          </p:cNvPr>
          <p:cNvSpPr txBox="1"/>
          <p:nvPr/>
        </p:nvSpPr>
        <p:spPr>
          <a:xfrm>
            <a:off x="638504" y="1267779"/>
            <a:ext cx="3324085" cy="495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Phrase analysis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Question and answer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Leadership &amp; role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Opening echo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Contour steering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Chord conditioning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Harmonic modes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Scale pitch bias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Pitch range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Swing / triplet feel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Live tempo tracking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Dynamics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Generation 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96428-37ED-DE63-E2D0-FD373F93A297}"/>
              </a:ext>
            </a:extLst>
          </p:cNvPr>
          <p:cNvSpPr txBox="1"/>
          <p:nvPr/>
        </p:nvSpPr>
        <p:spPr>
          <a:xfrm>
            <a:off x="4088523" y="1267779"/>
            <a:ext cx="3838549" cy="495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Phrase-shape dynamics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Articulation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Bass pitch-class tracking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Scale mode detection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Energy arc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Motivic development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Rhythmic displacement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Lyrical motif re-use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Voice leading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Modal leap bonus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Stochastic thinning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Phrase breathing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Singable duration bias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9EEF0-8FF6-3D2F-92C2-1A7DED7D44B1}"/>
              </a:ext>
            </a:extLst>
          </p:cNvPr>
          <p:cNvSpPr txBox="1"/>
          <p:nvPr/>
        </p:nvSpPr>
        <p:spPr>
          <a:xfrm>
            <a:off x="7620536" y="1267779"/>
            <a:ext cx="418257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Rhythmic density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Rhythmic complementarity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Register contrast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Phrase length control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Beat-matching / trading bars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Repetition control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Sax riff / insistence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Proactive mode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Live phrase peeking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Beat-synchronised entry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Turn-taking </a:t>
            </a:r>
          </a:p>
          <a:p>
            <a:pPr>
              <a:spcAft>
                <a:spcPts val="200"/>
              </a:spcAft>
            </a:pPr>
            <a:r>
              <a:rPr lang="en-GB" sz="2300" dirty="0">
                <a:latin typeface="Palatino Linotype" panose="02040502050505030304" pitchFamily="18" charset="0"/>
              </a:rPr>
              <a:t>Loop mode</a:t>
            </a:r>
            <a:br>
              <a:rPr lang="en-GB" sz="2300" dirty="0">
                <a:latin typeface="Palatino Linotype" panose="02040502050505030304" pitchFamily="18" charset="0"/>
              </a:rPr>
            </a:br>
            <a:r>
              <a:rPr lang="en-GB" sz="2300" dirty="0">
                <a:latin typeface="Palatino Linotype" panose="02040502050505030304" pitchFamily="18" charset="0"/>
              </a:rPr>
              <a:t>Arc timing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A5D39-3627-CFE9-597E-D3C8505EA7A7}"/>
              </a:ext>
            </a:extLst>
          </p:cNvPr>
          <p:cNvSpPr txBox="1"/>
          <p:nvPr/>
        </p:nvSpPr>
        <p:spPr>
          <a:xfrm>
            <a:off x="9450847" y="6318327"/>
            <a:ext cx="3363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Palatino Linotype" panose="02040502050505030304" pitchFamily="18" charset="0"/>
              </a:rPr>
              <a:t>* Good name for a song?</a:t>
            </a:r>
          </a:p>
        </p:txBody>
      </p:sp>
    </p:spTree>
    <p:extLst>
      <p:ext uri="{BB962C8B-B14F-4D97-AF65-F5344CB8AC3E}">
        <p14:creationId xmlns:p14="http://schemas.microsoft.com/office/powerpoint/2010/main" val="129146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6E05-FA9B-095E-4E7D-E2C69EEF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F58DA-C53E-E2A4-D95F-B35F61C1B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753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Fly me to the moon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6C1C-8CCE-241D-FE04-37A75C51F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902"/>
            <a:ext cx="6540061" cy="482847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Palatino Linotype" panose="02040502050505030304" pitchFamily="18" charset="0"/>
              </a:rPr>
              <a:t>The five giant steps in the performance arc…</a:t>
            </a:r>
            <a:br>
              <a:rPr lang="en-GB" sz="2400" b="1" dirty="0">
                <a:latin typeface="Palatino Linotype" panose="02040502050505030304" pitchFamily="18" charset="0"/>
              </a:rPr>
            </a:br>
            <a:endParaRPr lang="en-GB" sz="1200" b="1" dirty="0">
              <a:latin typeface="Palatino Linotype" panose="0204050205050503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8044EB-D1EF-6DA6-B529-1FE2F9EC2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330609"/>
              </p:ext>
            </p:extLst>
          </p:nvPr>
        </p:nvGraphicFramePr>
        <p:xfrm>
          <a:off x="1899744" y="2347445"/>
          <a:ext cx="8022022" cy="378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35318">
                  <a:extLst>
                    <a:ext uri="{9D8B030D-6E8A-4147-A177-3AD203B41FA5}">
                      <a16:colId xmlns:a16="http://schemas.microsoft.com/office/drawing/2014/main" val="2485304831"/>
                    </a:ext>
                  </a:extLst>
                </a:gridCol>
                <a:gridCol w="5286704">
                  <a:extLst>
                    <a:ext uri="{9D8B030D-6E8A-4147-A177-3AD203B41FA5}">
                      <a16:colId xmlns:a16="http://schemas.microsoft.com/office/drawing/2014/main" val="219351318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latin typeface="Palatino Linotype" panose="02040502050505030304" pitchFamily="18" charset="0"/>
                        </a:rPr>
                        <a:t>Sparse</a:t>
                      </a:r>
                      <a:endParaRPr lang="en-GB" sz="24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Palatino Linotype" panose="02040502050505030304" pitchFamily="18" charset="0"/>
                        </a:rPr>
                        <a:t>Exploratory, establish motifs slowly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9A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264627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latin typeface="Palatino Linotype" panose="02040502050505030304" pitchFamily="18" charset="0"/>
                        </a:rPr>
                        <a:t>Building</a:t>
                      </a:r>
                      <a:endParaRPr lang="en-GB" sz="24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4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Palatino Linotype" panose="02040502050505030304" pitchFamily="18" charset="0"/>
                        </a:rPr>
                        <a:t>Groove warming up, modal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4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926033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latin typeface="Palatino Linotype" panose="02040502050505030304" pitchFamily="18" charset="0"/>
                        </a:rPr>
                        <a:t>Peak</a:t>
                      </a:r>
                      <a:endParaRPr lang="en-GB" sz="24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E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Palatino Linotype" panose="02040502050505030304" pitchFamily="18" charset="0"/>
                        </a:rPr>
                        <a:t>Fast, active, max rhythmic intensity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E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254695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latin typeface="Palatino Linotype" panose="02040502050505030304" pitchFamily="18" charset="0"/>
                        </a:rPr>
                        <a:t>Recapitulation</a:t>
                      </a:r>
                      <a:endParaRPr lang="en-GB" sz="24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41FF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Palatino Linotype" panose="02040502050505030304" pitchFamily="18" charset="0"/>
                        </a:rPr>
                        <a:t>Lyrical return, motifs recalled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1F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07355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latin typeface="Palatino Linotype" panose="02040502050505030304" pitchFamily="18" charset="0"/>
                        </a:rPr>
                        <a:t>Resolution</a:t>
                      </a:r>
                      <a:endParaRPr lang="en-GB" sz="24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Palatino Linotype" panose="02040502050505030304" pitchFamily="18" charset="0"/>
                        </a:rPr>
                        <a:t>Slowest, long tones, fading out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15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52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156B-7C53-A98E-A12C-E6740C13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D851-7C60-ACEB-5BC2-3F020AB5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753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Sentimental journeys</a:t>
            </a:r>
            <a:endParaRPr lang="en-US" baseline="30000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25AC-6F63-9883-F3FF-5941FD625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771"/>
            <a:ext cx="10271234" cy="501804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Palatino Linotype" panose="02040502050505030304" pitchFamily="18" charset="0"/>
              </a:rPr>
              <a:t>This is inspired by:</a:t>
            </a:r>
          </a:p>
          <a:p>
            <a:pPr>
              <a:lnSpc>
                <a:spcPct val="110000"/>
              </a:lnSpc>
            </a:pPr>
            <a:r>
              <a:rPr lang="en-GB" i="1" dirty="0">
                <a:latin typeface="Palatino Linotype" panose="02040502050505030304" pitchFamily="18" charset="0"/>
              </a:rPr>
              <a:t>Post-bop modal-tonal hybrids </a:t>
            </a:r>
            <a:r>
              <a:rPr lang="en-GB" dirty="0">
                <a:latin typeface="Palatino Linotype" panose="02040502050505030304" pitchFamily="18" charset="0"/>
              </a:rPr>
              <a:t>like:</a:t>
            </a:r>
          </a:p>
          <a:p>
            <a:pPr lvl="1">
              <a:lnSpc>
                <a:spcPct val="110000"/>
              </a:lnSpc>
            </a:pPr>
            <a:r>
              <a:rPr lang="en-GB" sz="2200" b="1" dirty="0">
                <a:latin typeface="Palatino Linotype" panose="02040502050505030304" pitchFamily="18" charset="0"/>
              </a:rPr>
              <a:t>Milestones</a:t>
            </a:r>
            <a:r>
              <a:rPr lang="en-GB" sz="2200" dirty="0">
                <a:latin typeface="Palatino Linotype" panose="02040502050505030304" pitchFamily="18" charset="0"/>
              </a:rPr>
              <a:t> (Miles Davis), </a:t>
            </a:r>
            <a:r>
              <a:rPr lang="en-GB" sz="2200" b="1" dirty="0">
                <a:latin typeface="Palatino Linotype" panose="02040502050505030304" pitchFamily="18" charset="0"/>
              </a:rPr>
              <a:t>Little Sunflower</a:t>
            </a:r>
            <a:r>
              <a:rPr lang="en-GB" sz="2200" dirty="0">
                <a:latin typeface="Palatino Linotype" panose="02040502050505030304" pitchFamily="18" charset="0"/>
              </a:rPr>
              <a:t> (Freddie Hubbard), </a:t>
            </a:r>
            <a:r>
              <a:rPr lang="en-GB" sz="2200" b="1" dirty="0">
                <a:latin typeface="Palatino Linotype" panose="02040502050505030304" pitchFamily="18" charset="0"/>
              </a:rPr>
              <a:t>Maiden Voyage</a:t>
            </a:r>
            <a:r>
              <a:rPr lang="en-GB" sz="2200" dirty="0">
                <a:latin typeface="Palatino Linotype" panose="02040502050505030304" pitchFamily="18" charset="0"/>
              </a:rPr>
              <a:t> (Herbie Hancock), </a:t>
            </a:r>
            <a:r>
              <a:rPr lang="en-GB" sz="2200" b="1" dirty="0">
                <a:latin typeface="Palatino Linotype" panose="02040502050505030304" pitchFamily="18" charset="0"/>
              </a:rPr>
              <a:t>Footprints</a:t>
            </a:r>
            <a:r>
              <a:rPr lang="en-GB" sz="2200" dirty="0">
                <a:latin typeface="Palatino Linotype" panose="02040502050505030304" pitchFamily="18" charset="0"/>
              </a:rPr>
              <a:t> (Wayne Shorter), and the atmosphere of </a:t>
            </a:r>
            <a:r>
              <a:rPr lang="en-GB" sz="2200" b="1" dirty="0">
                <a:latin typeface="Palatino Linotype" panose="02040502050505030304" pitchFamily="18" charset="0"/>
              </a:rPr>
              <a:t>In a Silent Way </a:t>
            </a:r>
            <a:r>
              <a:rPr lang="en-GB" sz="2200" dirty="0">
                <a:latin typeface="Palatino Linotype" panose="02040502050505030304" pitchFamily="18" charset="0"/>
              </a:rPr>
              <a:t>(Miles Davis). These songs are my favourite things*.</a:t>
            </a:r>
          </a:p>
          <a:p>
            <a:pPr>
              <a:lnSpc>
                <a:spcPct val="110000"/>
              </a:lnSpc>
            </a:pPr>
            <a:r>
              <a:rPr lang="en-GB" sz="2400" dirty="0">
                <a:latin typeface="Palatino Linotype" panose="02040502050505030304" pitchFamily="18" charset="0"/>
              </a:rPr>
              <a:t>The arc also traces a journey through jazz history :</a:t>
            </a:r>
          </a:p>
          <a:p>
            <a:pPr lvl="1"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Sparse opening resembles the chromatic freedom of free jazz,</a:t>
            </a:r>
          </a:p>
          <a:p>
            <a:pPr lvl="1"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Modal building stage reflects the Miles/Coltrane modal period,</a:t>
            </a:r>
          </a:p>
          <a:p>
            <a:pPr lvl="1"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Peak combines hard bop drive with modal intensity,</a:t>
            </a:r>
          </a:p>
          <a:p>
            <a:pPr lvl="1"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Pedal resolution has the meditative quality of late Coltrane</a:t>
            </a:r>
            <a:br>
              <a:rPr lang="en-GB" sz="2200" dirty="0">
                <a:latin typeface="Palatino Linotype" panose="02040502050505030304" pitchFamily="18" charset="0"/>
              </a:rPr>
            </a:br>
            <a:r>
              <a:rPr lang="en-GB" sz="2200" dirty="0">
                <a:latin typeface="Palatino Linotype" panose="02040502050505030304" pitchFamily="18" charset="0"/>
              </a:rPr>
              <a:t>e.g. A Love Supreme.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0B48D-CD4E-B22D-68E4-0BAC398292EB}"/>
              </a:ext>
            </a:extLst>
          </p:cNvPr>
          <p:cNvSpPr txBox="1"/>
          <p:nvPr/>
        </p:nvSpPr>
        <p:spPr>
          <a:xfrm>
            <a:off x="9316720" y="6042770"/>
            <a:ext cx="249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latin typeface="Palatino Linotype" panose="02040502050505030304" pitchFamily="18" charset="0"/>
              </a:rPr>
              <a:t>* </a:t>
            </a:r>
            <a:r>
              <a:rPr lang="en-GB" sz="2000" i="1" dirty="0">
                <a:latin typeface="Palatino Linotype" panose="02040502050505030304" pitchFamily="18" charset="0"/>
              </a:rPr>
              <a:t>John Coltrane</a:t>
            </a:r>
          </a:p>
        </p:txBody>
      </p:sp>
    </p:spTree>
    <p:extLst>
      <p:ext uri="{BB962C8B-B14F-4D97-AF65-F5344CB8AC3E}">
        <p14:creationId xmlns:p14="http://schemas.microsoft.com/office/powerpoint/2010/main" val="363815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63227" y="404794"/>
            <a:ext cx="2264263" cy="16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FFFFFF"/>
                </a:solidFill>
                <a:latin typeface="Optima" panose="02000503060000020004" pitchFamily="2" charset="0"/>
                <a:ea typeface="Calibri" pitchFamily="34" charset="-122"/>
                <a:cs typeface="Calibri" pitchFamily="34" charset="-120"/>
              </a:rPr>
              <a:t>Input Pipeline</a:t>
            </a:r>
            <a:endParaRPr lang="en-US" sz="4800" dirty="0">
              <a:solidFill>
                <a:prstClr val="black"/>
              </a:solidFill>
              <a:latin typeface="Optima" panose="0200050306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467591"/>
            <a:ext cx="1889760" cy="755904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467591"/>
            <a:ext cx="1889760" cy="6679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</a:t>
            </a:r>
            <a:b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(pitch-to-MIDI)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65125" y="467590"/>
            <a:ext cx="1889760" cy="842091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65125" y="467591"/>
            <a:ext cx="1889760" cy="585216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MidiListener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21530" y="467591"/>
            <a:ext cx="2291561" cy="1426629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82490" y="467591"/>
            <a:ext cx="2197479" cy="58308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PhraseDetector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09223" y="2380112"/>
            <a:ext cx="3066918" cy="1671258"/>
          </a:xfrm>
          <a:prstGeom prst="roundRect">
            <a:avLst>
              <a:gd name="adj" fmla="val 5333"/>
            </a:avLst>
          </a:prstGeom>
          <a:solidFill>
            <a:schemeClr val="accent6">
              <a:lumMod val="50000"/>
            </a:schemeClr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70183" y="2380111"/>
            <a:ext cx="2957385" cy="537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PhraseAnalyzer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43759" y="2915185"/>
            <a:ext cx="2881918" cy="1134021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· density · Q&amp;A type · </a:t>
            </a:r>
            <a:b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· dynamics · energy profile ·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classes · interval motifs ·  lyrical motifs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35604" y="1858097"/>
            <a:ext cx="2292087" cy="78170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35602" y="1939632"/>
            <a:ext cx="229208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BeatEstimator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68425" y="2254592"/>
            <a:ext cx="2059268" cy="29313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tempo · beat sync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02643" y="1391665"/>
            <a:ext cx="0" cy="353568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28510" y="2572083"/>
            <a:ext cx="2585421" cy="1287592"/>
          </a:xfrm>
          <a:prstGeom prst="roundRect">
            <a:avLst>
              <a:gd name="adj" fmla="val 8421"/>
            </a:avLst>
          </a:prstGeom>
          <a:solidFill>
            <a:srgbClr val="16205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89470" y="2659030"/>
            <a:ext cx="2489665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PhraseMemory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90638" y="3004132"/>
            <a:ext cx="2136852" cy="79248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phrases + motifs ·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lyrical motifs ·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voices (bass + sax)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 flipV="1">
            <a:off x="4735093" y="1340472"/>
            <a:ext cx="607768" cy="344625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15861" y="4522398"/>
            <a:ext cx="5486400" cy="1598319"/>
          </a:xfrm>
          <a:prstGeom prst="roundRect">
            <a:avLst>
              <a:gd name="adj" fmla="val 8000"/>
            </a:avLst>
          </a:prstGeom>
          <a:solidFill>
            <a:schemeClr val="accent6">
              <a:lumMod val="50000"/>
            </a:schemeClr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76821" y="4574896"/>
            <a:ext cx="5364480" cy="33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ArcController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13397" y="4949478"/>
            <a:ext cx="5291328" cy="915817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performance arc  ·  leadership · proactive mode · bass pitch-class tracking  ·  energy arc selection · motif + lyrical motif selection  ·  register contrast scheduling · rhythmic density + complementarity  ·  stage swing baseline · opening echo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26922" y="4125109"/>
            <a:ext cx="0" cy="315309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82A67C06-F31C-A34E-B75C-378998F00D80}"/>
              </a:ext>
            </a:extLst>
          </p:cNvPr>
          <p:cNvSpPr/>
          <p:nvPr/>
        </p:nvSpPr>
        <p:spPr>
          <a:xfrm>
            <a:off x="6526922" y="6183781"/>
            <a:ext cx="0" cy="476909"/>
          </a:xfrm>
          <a:prstGeom prst="line">
            <a:avLst/>
          </a:prstGeom>
          <a:noFill/>
          <a:ln w="50800">
            <a:solidFill>
              <a:srgbClr val="FFC000"/>
            </a:solidFill>
            <a:prstDash val="sysDot"/>
            <a:tailEnd type="arrow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BE87611D-8695-346E-CD03-8723D7EC6F13}"/>
              </a:ext>
            </a:extLst>
          </p:cNvPr>
          <p:cNvSpPr/>
          <p:nvPr/>
        </p:nvSpPr>
        <p:spPr>
          <a:xfrm>
            <a:off x="4834130" y="845010"/>
            <a:ext cx="5823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7493AAE1-3A41-2F24-A433-15942ED6887C}"/>
              </a:ext>
            </a:extLst>
          </p:cNvPr>
          <p:cNvSpPr/>
          <p:nvPr/>
        </p:nvSpPr>
        <p:spPr>
          <a:xfrm>
            <a:off x="2389639" y="814265"/>
            <a:ext cx="377951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035CAC2A-78AD-68B9-ED4D-6D53C2E1AA41}"/>
              </a:ext>
            </a:extLst>
          </p:cNvPr>
          <p:cNvSpPr/>
          <p:nvPr/>
        </p:nvSpPr>
        <p:spPr>
          <a:xfrm>
            <a:off x="5648890" y="984707"/>
            <a:ext cx="2131078" cy="87629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dur min · min phrase notes · monophony · watchdog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7D6019D4-9F06-D4F8-9055-5C0B69571156}"/>
              </a:ext>
            </a:extLst>
          </p:cNvPr>
          <p:cNvSpPr/>
          <p:nvPr/>
        </p:nvSpPr>
        <p:spPr>
          <a:xfrm>
            <a:off x="358153" y="4886419"/>
            <a:ext cx="2292087" cy="78170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F402484E-1CC6-34A6-5E23-247659ED013C}"/>
              </a:ext>
            </a:extLst>
          </p:cNvPr>
          <p:cNvSpPr/>
          <p:nvPr/>
        </p:nvSpPr>
        <p:spPr>
          <a:xfrm>
            <a:off x="358151" y="4967954"/>
            <a:ext cx="229208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Loop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8093E773-011C-6678-EF78-708CE8296041}"/>
              </a:ext>
            </a:extLst>
          </p:cNvPr>
          <p:cNvSpPr/>
          <p:nvPr/>
        </p:nvSpPr>
        <p:spPr>
          <a:xfrm>
            <a:off x="525517" y="5295648"/>
            <a:ext cx="2124721" cy="29313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bass paused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FD5AEDBA-8E6D-A402-A41C-3F190A48E5BC}"/>
              </a:ext>
            </a:extLst>
          </p:cNvPr>
          <p:cNvSpPr/>
          <p:nvPr/>
        </p:nvSpPr>
        <p:spPr>
          <a:xfrm>
            <a:off x="2725550" y="5300918"/>
            <a:ext cx="5823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FE21DA54-651E-97F3-FCC2-BDEA980E4775}"/>
              </a:ext>
            </a:extLst>
          </p:cNvPr>
          <p:cNvSpPr/>
          <p:nvPr/>
        </p:nvSpPr>
        <p:spPr>
          <a:xfrm>
            <a:off x="2959931" y="947823"/>
            <a:ext cx="1721371" cy="876298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routing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2A60E65-CA67-17DB-181C-9F8648E943B1}"/>
              </a:ext>
            </a:extLst>
          </p:cNvPr>
          <p:cNvSpPr/>
          <p:nvPr/>
        </p:nvSpPr>
        <p:spPr>
          <a:xfrm>
            <a:off x="9794355" y="4712493"/>
            <a:ext cx="1600942" cy="1204769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52390D4-82FD-4455-952D-F476AA9AA7BF}"/>
              </a:ext>
            </a:extLst>
          </p:cNvPr>
          <p:cNvSpPr/>
          <p:nvPr/>
        </p:nvSpPr>
        <p:spPr>
          <a:xfrm>
            <a:off x="9657720" y="4794026"/>
            <a:ext cx="1874213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EFB27E6D-2224-F7EF-9B39-408E4E2321B9}"/>
              </a:ext>
            </a:extLst>
          </p:cNvPr>
          <p:cNvSpPr/>
          <p:nvPr/>
        </p:nvSpPr>
        <p:spPr>
          <a:xfrm>
            <a:off x="10053749" y="5204682"/>
            <a:ext cx="1118266" cy="523546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web · OSC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28421045-6A50-0F48-313C-CC5E248B2CB2}"/>
              </a:ext>
            </a:extLst>
          </p:cNvPr>
          <p:cNvSpPr/>
          <p:nvPr/>
        </p:nvSpPr>
        <p:spPr>
          <a:xfrm>
            <a:off x="9070199" y="5329974"/>
            <a:ext cx="58230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78BEAAC7-0D2B-B745-2590-3480E25C69AD}"/>
              </a:ext>
            </a:extLst>
          </p:cNvPr>
          <p:cNvSpPr/>
          <p:nvPr/>
        </p:nvSpPr>
        <p:spPr>
          <a:xfrm>
            <a:off x="3802643" y="2817527"/>
            <a:ext cx="0" cy="1543454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CB67F83E-D73C-A10F-7608-64C83241BF3F}"/>
              </a:ext>
            </a:extLst>
          </p:cNvPr>
          <p:cNvSpPr/>
          <p:nvPr/>
        </p:nvSpPr>
        <p:spPr>
          <a:xfrm>
            <a:off x="6603650" y="1939632"/>
            <a:ext cx="0" cy="353568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2578BFA-6C86-5D73-0B4B-8BC48A96B8F6}"/>
              </a:ext>
            </a:extLst>
          </p:cNvPr>
          <p:cNvSpPr/>
          <p:nvPr/>
        </p:nvSpPr>
        <p:spPr>
          <a:xfrm>
            <a:off x="8463350" y="3215879"/>
            <a:ext cx="377951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D519FCAC-D1D8-351F-5F22-865612018EEF}"/>
              </a:ext>
            </a:extLst>
          </p:cNvPr>
          <p:cNvSpPr/>
          <p:nvPr/>
        </p:nvSpPr>
        <p:spPr>
          <a:xfrm flipH="1">
            <a:off x="9057465" y="4070714"/>
            <a:ext cx="607768" cy="353567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08575" y="240298"/>
            <a:ext cx="3115243" cy="13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Optima" panose="02000503060000020004" pitchFamily="2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4800" dirty="0">
              <a:solidFill>
                <a:prstClr val="black"/>
              </a:solidFill>
              <a:latin typeface="Optima" panose="0200050306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46605" y="419226"/>
            <a:ext cx="2767053" cy="536448"/>
          </a:xfrm>
          <a:prstGeom prst="roundRect">
            <a:avLst>
              <a:gd name="adj" fmla="val 18182"/>
            </a:avLst>
          </a:prstGeom>
          <a:solidFill>
            <a:schemeClr val="accent6">
              <a:lumMod val="50000"/>
            </a:schemeClr>
          </a:solidFill>
          <a:ln w="25400">
            <a:solidFill>
              <a:srgbClr val="CADCFC"/>
            </a:solidFill>
            <a:prstDash val="dash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35571" y="419226"/>
            <a:ext cx="43891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ArcController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19935" y="1505989"/>
            <a:ext cx="4420393" cy="717212"/>
          </a:xfrm>
          <a:prstGeom prst="roundRect">
            <a:avLst>
              <a:gd name="adj" fmla="val 15385"/>
            </a:avLst>
          </a:prstGeom>
          <a:solidFill>
            <a:schemeClr val="accent6">
              <a:lumMod val="50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62291" y="1589216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HarmonyController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36290" y="1895169"/>
            <a:ext cx="4187683" cy="268224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algn="ctr"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· progression · pedal · tritone substitution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85103" y="2703894"/>
            <a:ext cx="6490056" cy="1786648"/>
          </a:xfrm>
          <a:prstGeom prst="roundRect">
            <a:avLst>
              <a:gd name="adj" fmla="val 6780"/>
            </a:avLst>
          </a:prstGeom>
          <a:solidFill>
            <a:schemeClr val="accent6">
              <a:lumMod val="50000"/>
            </a:schemeClr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37442" y="2772269"/>
            <a:ext cx="638537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PhraseGenerator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80383" y="3121305"/>
            <a:ext cx="6242437" cy="1279645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chord conditioning  · pitch range limits · register gravity ·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contrast  ·  scale pitch bias  ·  contour steering · swing/triplet bias · energy arc shaping · long-note penalty · singable duration bias  ·  motivic development · voice leading  ·  modal leap · bonus (P4/P5)  ·  repetition penalty · rest injection  ·  beat accumulator · rhythmic displacement</a:t>
            </a: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72952" y="5162267"/>
            <a:ext cx="2129360" cy="1114235"/>
          </a:xfrm>
          <a:prstGeom prst="roundRect">
            <a:avLst>
              <a:gd name="adj" fmla="val 12308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6748" y="5256840"/>
            <a:ext cx="2560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PhraseMemory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79454" y="5622600"/>
            <a:ext cx="1405880" cy="560832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· recall ·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seed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80852" y="3037885"/>
            <a:ext cx="2183191" cy="1193225"/>
          </a:xfrm>
          <a:prstGeom prst="roundRect">
            <a:avLst>
              <a:gd name="adj" fmla="val 12308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80853" y="3167600"/>
            <a:ext cx="210233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77649" y="3623987"/>
            <a:ext cx="1938984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WJD sax solos · </a:t>
            </a:r>
            <a:b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49-token chord vocab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94245" y="5162267"/>
            <a:ext cx="2316480" cy="998153"/>
          </a:xfrm>
          <a:prstGeom prst="roundRect">
            <a:avLst>
              <a:gd name="adj" fmla="val 17391"/>
            </a:avLst>
          </a:prstGeom>
          <a:solidFill>
            <a:schemeClr val="accent6">
              <a:lumMod val="50000"/>
            </a:schemeClr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5205" y="5256839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MidiOutput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622" y="5581034"/>
            <a:ext cx="1886818" cy="579386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pPr defTabSz="1219170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arc · peak accent · end taper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799587" y="5735259"/>
            <a:ext cx="1488263" cy="438912"/>
          </a:xfrm>
          <a:prstGeom prst="roundRect">
            <a:avLst>
              <a:gd name="adj" fmla="val 22222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71048" y="5735259"/>
            <a:ext cx="1745341" cy="438912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hint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989910" y="2757210"/>
            <a:ext cx="0" cy="609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BF73742D-C58B-745E-C84B-09469BF39C30}"/>
              </a:ext>
            </a:extLst>
          </p:cNvPr>
          <p:cNvSpPr/>
          <p:nvPr/>
        </p:nvSpPr>
        <p:spPr>
          <a:xfrm flipH="1">
            <a:off x="5848685" y="4670250"/>
            <a:ext cx="16080" cy="426825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87FC4B10-340A-6F3B-E434-9066D920521B}"/>
              </a:ext>
            </a:extLst>
          </p:cNvPr>
          <p:cNvSpPr/>
          <p:nvPr/>
        </p:nvSpPr>
        <p:spPr>
          <a:xfrm>
            <a:off x="4630131" y="2310693"/>
            <a:ext cx="0" cy="298611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Shape 13">
            <a:extLst>
              <a:ext uri="{FF2B5EF4-FFF2-40B4-BE49-F238E27FC236}">
                <a16:creationId xmlns:a16="http://schemas.microsoft.com/office/drawing/2014/main" id="{C7B5150A-7B3C-0DF6-D272-7A58E5994619}"/>
              </a:ext>
            </a:extLst>
          </p:cNvPr>
          <p:cNvSpPr/>
          <p:nvPr/>
        </p:nvSpPr>
        <p:spPr>
          <a:xfrm flipV="1">
            <a:off x="8093940" y="3602773"/>
            <a:ext cx="514514" cy="784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25">
            <a:extLst>
              <a:ext uri="{FF2B5EF4-FFF2-40B4-BE49-F238E27FC236}">
                <a16:creationId xmlns:a16="http://schemas.microsoft.com/office/drawing/2014/main" id="{4583DD6A-C613-B405-EAE6-8416DC69717E}"/>
              </a:ext>
            </a:extLst>
          </p:cNvPr>
          <p:cNvSpPr/>
          <p:nvPr/>
        </p:nvSpPr>
        <p:spPr>
          <a:xfrm>
            <a:off x="7799587" y="5168221"/>
            <a:ext cx="1488263" cy="438912"/>
          </a:xfrm>
          <a:prstGeom prst="roundRect">
            <a:avLst>
              <a:gd name="adj" fmla="val 22222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08D64C15-18D0-D71F-2D4C-F78FC3266243}"/>
              </a:ext>
            </a:extLst>
          </p:cNvPr>
          <p:cNvSpPr/>
          <p:nvPr/>
        </p:nvSpPr>
        <p:spPr>
          <a:xfrm>
            <a:off x="7856316" y="5168221"/>
            <a:ext cx="1374805" cy="438912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voice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6B0AC4B-78C1-CBB0-9E89-0366A38A8E1A}"/>
              </a:ext>
            </a:extLst>
          </p:cNvPr>
          <p:cNvSpPr/>
          <p:nvPr/>
        </p:nvSpPr>
        <p:spPr>
          <a:xfrm>
            <a:off x="4630131" y="1039761"/>
            <a:ext cx="0" cy="338954"/>
          </a:xfrm>
          <a:prstGeom prst="line">
            <a:avLst/>
          </a:prstGeom>
          <a:noFill/>
          <a:ln w="50800">
            <a:solidFill>
              <a:srgbClr val="FFC000"/>
            </a:solidFill>
            <a:prstDash val="sysDot"/>
            <a:tailEnd type="arrow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85F9F7E0-B27F-EA01-5C53-5E0E71DBBC45}"/>
              </a:ext>
            </a:extLst>
          </p:cNvPr>
          <p:cNvSpPr/>
          <p:nvPr/>
        </p:nvSpPr>
        <p:spPr>
          <a:xfrm>
            <a:off x="2857032" y="4897482"/>
            <a:ext cx="0" cy="609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CCF5EC3B-866D-5734-74B1-BD939336B4C5}"/>
              </a:ext>
            </a:extLst>
          </p:cNvPr>
          <p:cNvSpPr/>
          <p:nvPr/>
        </p:nvSpPr>
        <p:spPr>
          <a:xfrm>
            <a:off x="2857032" y="4630830"/>
            <a:ext cx="0" cy="386824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A605903D-DB64-C634-8268-01A725C89271}"/>
              </a:ext>
            </a:extLst>
          </p:cNvPr>
          <p:cNvSpPr/>
          <p:nvPr/>
        </p:nvSpPr>
        <p:spPr>
          <a:xfrm flipH="1" flipV="1">
            <a:off x="8023562" y="3597732"/>
            <a:ext cx="402012" cy="784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C5AAE1E2-D6EA-0B2B-E70C-8FF79A826F5A}"/>
              </a:ext>
            </a:extLst>
          </p:cNvPr>
          <p:cNvSpPr/>
          <p:nvPr/>
        </p:nvSpPr>
        <p:spPr>
          <a:xfrm>
            <a:off x="7225867" y="5391521"/>
            <a:ext cx="377951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B1771F1-1D98-213C-074B-90E09B852FDD}"/>
              </a:ext>
            </a:extLst>
          </p:cNvPr>
          <p:cNvSpPr/>
          <p:nvPr/>
        </p:nvSpPr>
        <p:spPr>
          <a:xfrm>
            <a:off x="7225867" y="5893719"/>
            <a:ext cx="377951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  <a:tailEnd type="arrow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B5C3-4E97-2FBD-C3E6-8CA09117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01B8-D5D3-E4A7-6E0F-ADA4EC97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753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Soul A-eyes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404BD-1090-3089-CBFF-BBD904D4A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7972" y="1363441"/>
            <a:ext cx="5502987" cy="3252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7D8AC2-49A7-BC76-BD7E-3E94A6B53F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4580" y="1363441"/>
            <a:ext cx="4592481" cy="39258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575787-65A4-F6FC-5F3E-2143B5A3637C}"/>
              </a:ext>
            </a:extLst>
          </p:cNvPr>
          <p:cNvSpPr txBox="1"/>
          <p:nvPr/>
        </p:nvSpPr>
        <p:spPr>
          <a:xfrm>
            <a:off x="5100465" y="5477212"/>
            <a:ext cx="68468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Optima" panose="02000503060000020004" pitchFamily="2" charset="0"/>
              </a:rPr>
              <a:t>Watch live during the performance on </a:t>
            </a:r>
            <a:r>
              <a:rPr lang="en-US" sz="3600" b="1" dirty="0" err="1"/>
              <a:t>wolfson.numbersintonotes.net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769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93BB-5984-061A-79FE-248D7810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065DF7-EEE5-CCF2-2669-649CAF486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03249"/>
            <a:ext cx="8400393" cy="5273714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Repo is on </a:t>
            </a:r>
            <a:r>
              <a:rPr lang="en-US" dirty="0">
                <a:latin typeface="Palatino Linotype" panose="02040502050505030304" pitchFamily="18" charset="0"/>
                <a:hlinkClick r:id="rId3"/>
              </a:rPr>
              <a:t>github.com/davidderoure/wolfson</a:t>
            </a:r>
            <a:r>
              <a:rPr lang="en-US" dirty="0">
                <a:latin typeface="Palatino Linotype" panose="02040502050505030304" pitchFamily="18" charset="0"/>
              </a:rPr>
              <a:t>  </a:t>
            </a:r>
          </a:p>
          <a:p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Acknowledgement: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Ray </a:t>
            </a:r>
            <a:r>
              <a:rPr lang="en-US" sz="2200" dirty="0" err="1">
                <a:latin typeface="Palatino Linotype" panose="02040502050505030304" pitchFamily="18" charset="0"/>
              </a:rPr>
              <a:t>d’Inverno</a:t>
            </a:r>
            <a:r>
              <a:rPr lang="en-US" sz="2200" dirty="0">
                <a:latin typeface="Palatino Linotype" panose="02040502050505030304" pitchFamily="18" charset="0"/>
              </a:rPr>
              <a:t> (for jazz, Lisp, AI, slick licks)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Mark </a:t>
            </a:r>
            <a:r>
              <a:rPr lang="en-US" sz="2200" dirty="0" err="1">
                <a:latin typeface="Palatino Linotype" panose="02040502050505030304" pitchFamily="18" charset="0"/>
              </a:rPr>
              <a:t>d’Inverno</a:t>
            </a:r>
            <a:r>
              <a:rPr lang="en-US" sz="2200" dirty="0">
                <a:latin typeface="Palatino Linotype" panose="02040502050505030304" pitchFamily="18" charset="0"/>
              </a:rPr>
              <a:t> (for jazz, AI, creativity, slick licks)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George E Lewis (for Voyager and Forager)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Robert Laidlow (for Alter-</a:t>
            </a:r>
            <a:r>
              <a:rPr lang="en-US" sz="2200" dirty="0" err="1">
                <a:latin typeface="Palatino Linotype" panose="02040502050505030304" pitchFamily="18" charset="0"/>
              </a:rPr>
              <a:t>ing</a:t>
            </a:r>
            <a:r>
              <a:rPr lang="en-US" sz="2200" dirty="0">
                <a:latin typeface="Palatino Linotype" panose="02040502050505030304" pitchFamily="18" charset="0"/>
              </a:rPr>
              <a:t> Ada Lovelace, and sax)</a:t>
            </a:r>
          </a:p>
          <a:p>
            <a:pPr lvl="1"/>
            <a:r>
              <a:rPr lang="en-US" sz="2200" dirty="0" err="1">
                <a:latin typeface="Palatino Linotype" panose="02040502050505030304" pitchFamily="18" charset="0"/>
              </a:rPr>
              <a:t>Hongshuo</a:t>
            </a:r>
            <a:r>
              <a:rPr lang="en-US" sz="2200" dirty="0">
                <a:latin typeface="Palatino Linotype" panose="02040502050505030304" pitchFamily="18" charset="0"/>
              </a:rPr>
              <a:t> Fan (for Music Gesture Recognition)</a:t>
            </a:r>
          </a:p>
          <a:p>
            <a:pPr lvl="1"/>
            <a:r>
              <a:rPr lang="en-US" sz="2200" dirty="0" err="1">
                <a:latin typeface="Palatino Linotype" panose="02040502050505030304" pitchFamily="18" charset="0"/>
              </a:rPr>
              <a:t>Bofan</a:t>
            </a:r>
            <a:r>
              <a:rPr lang="en-US" sz="2200" dirty="0">
                <a:latin typeface="Palatino Linotype" panose="02040502050505030304" pitchFamily="18" charset="0"/>
              </a:rPr>
              <a:t> Ma (for always enabling musicality)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Maria </a:t>
            </a:r>
            <a:r>
              <a:rPr lang="en-US" sz="2200" dirty="0" err="1">
                <a:latin typeface="Palatino Linotype" panose="02040502050505030304" pitchFamily="18" charset="0"/>
              </a:rPr>
              <a:t>Kallionpää</a:t>
            </a:r>
            <a:r>
              <a:rPr lang="en-US" sz="2200" dirty="0">
                <a:latin typeface="Palatino Linotype" panose="02040502050505030304" pitchFamily="18" charset="0"/>
              </a:rPr>
              <a:t> (for Climb!)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Ada Lovelace &amp; Emily Howard (for Numbers into Notes)</a:t>
            </a:r>
          </a:p>
          <a:p>
            <a:pPr lvl="1"/>
            <a:r>
              <a:rPr lang="en-US" sz="2200" dirty="0">
                <a:latin typeface="Palatino Linotype" panose="02040502050505030304" pitchFamily="18" charset="0"/>
              </a:rPr>
              <a:t>Wolfson Digital Research Cluster, </a:t>
            </a:r>
            <a:r>
              <a:rPr lang="en-US" sz="2200" dirty="0" err="1">
                <a:latin typeface="Palatino Linotype" panose="02040502050505030304" pitchFamily="18" charset="0"/>
              </a:rPr>
              <a:t>DiSc</a:t>
            </a:r>
            <a:r>
              <a:rPr lang="en-US" sz="2200" dirty="0">
                <a:latin typeface="Palatino Linotype" panose="02040502050505030304" pitchFamily="18" charset="0"/>
              </a:rPr>
              <a:t> &amp; TORCH (for AIMC 2024)</a:t>
            </a:r>
          </a:p>
          <a:p>
            <a:pPr lvl="1"/>
            <a:endParaRPr lang="en-US" dirty="0">
              <a:latin typeface="Palatino Linotype" panose="02040502050505030304" pitchFamily="18" charset="0"/>
            </a:endParaRPr>
          </a:p>
          <a:p>
            <a:pPr lvl="0"/>
            <a:r>
              <a:rPr lang="en-US" sz="2400" i="1" dirty="0">
                <a:latin typeface="Palatino Linotype" panose="02040502050505030304" pitchFamily="18" charset="0"/>
              </a:rPr>
              <a:t>Grand Challenges for Computing Research</a:t>
            </a:r>
            <a:r>
              <a:rPr lang="en-US" sz="2400" dirty="0">
                <a:latin typeface="Palatino Linotype" panose="02040502050505030304" pitchFamily="18" charset="0"/>
              </a:rPr>
              <a:t> – Tony Hoare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</p:txBody>
      </p:sp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AE2E2FB4-45D4-955A-DA70-41F10F631E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449" y="2074097"/>
            <a:ext cx="741532" cy="741532"/>
          </a:xfrm>
          <a:prstGeom prst="rect">
            <a:avLst/>
          </a:prstGeom>
        </p:spPr>
      </p:pic>
      <p:pic>
        <p:nvPicPr>
          <p:cNvPr id="16" name="Picture 15" descr="torch logo icon">
            <a:extLst>
              <a:ext uri="{FF2B5EF4-FFF2-40B4-BE49-F238E27FC236}">
                <a16:creationId xmlns:a16="http://schemas.microsoft.com/office/drawing/2014/main" id="{AF5C0374-A45C-8F4F-13B3-71AE93C08B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223" y="2077414"/>
            <a:ext cx="737827" cy="737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performance research logo black">
            <a:extLst>
              <a:ext uri="{FF2B5EF4-FFF2-40B4-BE49-F238E27FC236}">
                <a16:creationId xmlns:a16="http://schemas.microsoft.com/office/drawing/2014/main" id="{4898947E-1E9F-6C26-EC1A-DCA7850E59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07" y="3916247"/>
            <a:ext cx="1578927" cy="89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A green and white logo&#10;&#10;Description automatically generated">
            <a:extLst>
              <a:ext uri="{FF2B5EF4-FFF2-40B4-BE49-F238E27FC236}">
                <a16:creationId xmlns:a16="http://schemas.microsoft.com/office/drawing/2014/main" id="{E44206BB-E239-0EB4-52D5-DB5A84D138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07" y="2994854"/>
            <a:ext cx="1535643" cy="779824"/>
          </a:xfrm>
          <a:prstGeom prst="rect">
            <a:avLst/>
          </a:prstGeom>
        </p:spPr>
      </p:pic>
      <p:pic>
        <p:nvPicPr>
          <p:cNvPr id="19" name="Picture 2" descr="PRiSM logo with text">
            <a:extLst>
              <a:ext uri="{FF2B5EF4-FFF2-40B4-BE49-F238E27FC236}">
                <a16:creationId xmlns:a16="http://schemas.microsoft.com/office/drawing/2014/main" id="{F097A706-7944-CDD7-69C4-1D5CA675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320" y="722397"/>
            <a:ext cx="2079898" cy="89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Home - Wolfson College">
            <a:extLst>
              <a:ext uri="{FF2B5EF4-FFF2-40B4-BE49-F238E27FC236}">
                <a16:creationId xmlns:a16="http://schemas.microsoft.com/office/drawing/2014/main" id="{E16D70A7-BF5F-F8A7-82FF-A057B33F09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587" y="4982989"/>
            <a:ext cx="1668788" cy="16687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378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2847-2996-7214-8037-C7F86A40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D0A14B-CE5A-5EE7-E773-A86177200389}"/>
              </a:ext>
            </a:extLst>
          </p:cNvPr>
          <p:cNvSpPr/>
          <p:nvPr/>
        </p:nvSpPr>
        <p:spPr>
          <a:xfrm>
            <a:off x="6747644" y="365125"/>
            <a:ext cx="5276193" cy="62698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3241A-102A-3C3B-86F2-2AD6434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62" y="365125"/>
            <a:ext cx="10681138" cy="805753"/>
          </a:xfrm>
        </p:spPr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Radar of the lost archive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8595-06A4-2AEC-2FC9-2E9E63645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2" y="1393902"/>
            <a:ext cx="5221912" cy="524107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“The Grand Challenges Exercise of the UK Computing Research Committee”</a:t>
            </a:r>
          </a:p>
          <a:p>
            <a:pPr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A workshop held in Edinburgh in November 2002, considered 109 submissions.</a:t>
            </a:r>
          </a:p>
          <a:p>
            <a:pPr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Archival research suggests my submission was “The creative electronic musician”. Or maybe “Interactive Electronic Musician”.</a:t>
            </a:r>
          </a:p>
          <a:p>
            <a:pPr>
              <a:lnSpc>
                <a:spcPct val="110000"/>
              </a:lnSpc>
            </a:pPr>
            <a:r>
              <a:rPr lang="en-GB" sz="2200" dirty="0">
                <a:latin typeface="Palatino Linotype" panose="02040502050505030304" pitchFamily="18" charset="0"/>
              </a:rPr>
              <a:t>Sir Tony Hoare, Wolfson Emeritus Fellow, was Chair of the programme committee.</a:t>
            </a:r>
          </a:p>
          <a:p>
            <a:pPr>
              <a:lnSpc>
                <a:spcPct val="110000"/>
              </a:lnSpc>
            </a:pPr>
            <a:endParaRPr lang="en-GB" sz="2200" dirty="0">
              <a:latin typeface="Palatino Linotype" panose="02040502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2208F-6F12-79CA-A9C1-4E0A784D3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02" y="1686400"/>
            <a:ext cx="4609251" cy="4717521"/>
          </a:xfrm>
          <a:prstGeom prst="rect">
            <a:avLst/>
          </a:prstGeom>
          <a:ln>
            <a:solidFill>
              <a:srgbClr val="CADCFC"/>
            </a:solidFill>
          </a:ln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991674F-8739-AB95-371A-B9C929DC5189}"/>
              </a:ext>
            </a:extLst>
          </p:cNvPr>
          <p:cNvSpPr/>
          <p:nvPr/>
        </p:nvSpPr>
        <p:spPr>
          <a:xfrm>
            <a:off x="5705821" y="3934819"/>
            <a:ext cx="614820" cy="4064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F1EAC7-9720-561B-E6BA-A0424A5D5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78" y="623826"/>
            <a:ext cx="5042991" cy="103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77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F209-013F-6D3B-C37E-800D01E6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2039-95D3-7284-293F-74EF8AB6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38" y="539296"/>
            <a:ext cx="10972800" cy="80575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dirty="0">
                <a:latin typeface="Palatino Linotype" panose="02040502050505030304" pitchFamily="18" charset="0"/>
              </a:rPr>
              <a:t>Someday my footprints will come but we might not be quite there yet: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D06D-6FD1-F54D-1BE3-2C1CCEDA2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158" y="1807309"/>
            <a:ext cx="5439103" cy="478306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It uses MIDI: no pitch inflection, vibrato, or continuous dynamics within notes – every note is a rectangle.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Time feel is mechanical within phrases: no </a:t>
            </a:r>
            <a:r>
              <a:rPr lang="en-GB" sz="1800" dirty="0" err="1">
                <a:latin typeface="Palatino Linotype" panose="02040502050505030304" pitchFamily="18" charset="0"/>
              </a:rPr>
              <a:t>microtiming</a:t>
            </a:r>
            <a:r>
              <a:rPr lang="en-GB" sz="1800" dirty="0">
                <a:latin typeface="Palatino Linotype" panose="02040502050505030304" pitchFamily="18" charset="0"/>
              </a:rPr>
              <a:t>, no laying back or pushing the beat.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Conversation is polite by design – complementary, never confrontational, doesn't interrupt, crowd the register, or refuse to listen..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It’s pretty much in 4/4, no waltzes or take 5 – the tempo estimator assumes equal beats.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No personal voice – an amalgam across an era rather than any one player's sound.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The arc is clock-driven, not music-driven – deliberately for this performance (but see </a:t>
            </a:r>
            <a:r>
              <a:rPr lang="en-GB" sz="1800" i="1" dirty="0">
                <a:latin typeface="Palatino Linotype" panose="02040502050505030304" pitchFamily="18" charset="0"/>
              </a:rPr>
              <a:t>Climb!</a:t>
            </a:r>
            <a:r>
              <a:rPr lang="en-GB" sz="1800" dirty="0">
                <a:latin typeface="Palatino Linotype" panose="02040502050505030304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endParaRPr lang="en-US" sz="1800" dirty="0">
              <a:latin typeface="Palatino Linotype" panose="0204050205050503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3CDFF8-B9FA-96D8-F02B-E6002511B187}"/>
              </a:ext>
            </a:extLst>
          </p:cNvPr>
          <p:cNvSpPr txBox="1">
            <a:spLocks/>
          </p:cNvSpPr>
          <p:nvPr/>
        </p:nvSpPr>
        <p:spPr>
          <a:xfrm>
            <a:off x="6032938" y="1807309"/>
            <a:ext cx="5680840" cy="4783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Motivic development might feel like repetition – because it is.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Trained on solos not melodies – no quoting, no playing off the tune.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Trained on one era and school – the bebop/hard-bop vocabulary of the Weimar Jazz Database; no awareness of what came before or after.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Inside/outside distinction and narrative arc within a phrase could be designed more explicitly –  the model has learned some of this from transcriptions.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It only listens to one instrument (but see </a:t>
            </a:r>
            <a:r>
              <a:rPr lang="en-GB" sz="1800" i="1" dirty="0">
                <a:latin typeface="Palatino Linotype" panose="02040502050505030304" pitchFamily="18" charset="0"/>
              </a:rPr>
              <a:t>Forager)</a:t>
            </a:r>
            <a:r>
              <a:rPr lang="en-GB" sz="1800" dirty="0">
                <a:latin typeface="Palatino Linotype" panose="0204050205050503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sz="1800" dirty="0">
                <a:latin typeface="Palatino Linotype" panose="02040502050505030304" pitchFamily="18" charset="0"/>
              </a:rPr>
              <a:t>Audiences may find fixed, familiar harmony more immediately satisfying – responsiveness to the bassist means harmony is earned rather than given.</a:t>
            </a:r>
          </a:p>
        </p:txBody>
      </p:sp>
    </p:spTree>
    <p:extLst>
      <p:ext uri="{BB962C8B-B14F-4D97-AF65-F5344CB8AC3E}">
        <p14:creationId xmlns:p14="http://schemas.microsoft.com/office/powerpoint/2010/main" val="3995039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CE34A2-E14E-88B2-84AD-728BF95C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87061" y="-21857"/>
            <a:ext cx="8807669" cy="674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0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27607</TotalTime>
  <Words>1318</Words>
  <Application>Microsoft Macintosh PowerPoint</Application>
  <PresentationFormat>Widescreen</PresentationFormat>
  <Paragraphs>153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Garamond</vt:lpstr>
      <vt:lpstr>Optima</vt:lpstr>
      <vt:lpstr>Palatino Linotype</vt:lpstr>
      <vt:lpstr>Office Theme</vt:lpstr>
      <vt:lpstr>1_Office Theme</vt:lpstr>
      <vt:lpstr>README Post-bop modal-tonal AI jazz improvisation  Program(me) Notes</vt:lpstr>
      <vt:lpstr>Now’s the time</vt:lpstr>
      <vt:lpstr>Program(me) Note</vt:lpstr>
      <vt:lpstr>All the things I have been* thinking about </vt:lpstr>
      <vt:lpstr>Fly me to the moon</vt:lpstr>
      <vt:lpstr>Sentimental journeys</vt:lpstr>
      <vt:lpstr>PowerPoint Presentation</vt:lpstr>
      <vt:lpstr>PowerPoint Presentation</vt:lpstr>
      <vt:lpstr>Soul A-eyes</vt:lpstr>
      <vt:lpstr>PowerPoint Presentation</vt:lpstr>
      <vt:lpstr>Radar of the lost archive</vt:lpstr>
      <vt:lpstr>Someday my footprints will come but we might not be quite there yet: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De Roure</dc:creator>
  <cp:lastModifiedBy>David De Roure</cp:lastModifiedBy>
  <cp:revision>60</cp:revision>
  <dcterms:created xsi:type="dcterms:W3CDTF">2026-03-31T17:42:52Z</dcterms:created>
  <dcterms:modified xsi:type="dcterms:W3CDTF">2026-04-19T21:59:46Z</dcterms:modified>
</cp:coreProperties>
</file>