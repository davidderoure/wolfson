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257" r:id="rId4"/>
    <p:sldId id="259" r:id="rId5"/>
    <p:sldId id="258" r:id="rId6"/>
    <p:sldId id="264" r:id="rId7"/>
    <p:sldId id="262" r:id="rId8"/>
    <p:sldId id="263" r:id="rId9"/>
    <p:sldId id="266" r:id="rId10"/>
    <p:sldId id="260" r:id="rId11"/>
    <p:sldId id="265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38"/>
  </p:normalViewPr>
  <p:slideViewPr>
    <p:cSldViewPr snapToGrid="0">
      <p:cViewPr>
        <p:scale>
          <a:sx n="122" d="100"/>
          <a:sy n="122" d="100"/>
        </p:scale>
        <p:origin x="232" y="-1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23DB7-7F8E-0241-8824-58FDBBD2EE9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125BD8-DB9E-B04B-ACC5-175F26D74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8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4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65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28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07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4EE45-609D-D677-B43A-1B23ED1C7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E766DD-6C9D-4F48-DE19-C2C90B38D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DCF14-5DDD-BC52-2EC2-7F5531F58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2C179-DB8F-F062-1E98-FE92A957E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0147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E8DB4-873F-D49B-5A6A-3D1AD0B5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2702C7-345E-C75D-A328-9874576E5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826AAB-6AC5-03EA-2E51-800B480EB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6E4B0-9E74-D132-25BB-AF4F714DB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631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57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1B4C-8A5F-7E1F-D717-55863195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F2E02D-EE58-F0A1-BE05-F7E7B94B1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559A-18A7-1297-B352-2C739F8E7B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4B99C-77BF-2D3F-489B-53F92A58E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6987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232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81FB-0BB1-B7BD-36AC-4E6C823F6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AC6F3-73BB-1EF1-27B3-BA6857F5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DB308-FCA4-CF56-117A-C49759D5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0ECCF-F897-92F3-6136-A8CACD5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F27F-808E-B281-6F32-E5BECA43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71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ECBC-8E90-CEE0-2CBA-2D0FAD6DD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0E35-DBB3-0BE1-D399-61AB5B13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CBF18-8D7A-AC84-858B-54892D17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1A0CA-1388-0822-6C60-74B355873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B9B6-8013-EA21-B4B5-DD54B2E9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4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4A8C-6C8D-D97B-1B33-1FF4DA08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4624D-4B1F-2831-F78F-6E7D77DC5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EAB85-A2D9-0B04-95FF-957A6EBF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38157-9E12-7604-4108-BFC8DFDA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2CA78-0063-B681-83A9-91E79271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26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7A8F4-9896-E1B3-FB85-B4064805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AA1B1-ABB1-1FE7-7E24-99552756F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8B9EA-0804-3557-A8DB-E7AD2CE4A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3C1BE-522D-AB35-135F-8B0B9A944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406F8-8D5F-DED1-0FD4-FAF9358C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E894C-4995-85C8-072A-F9190A71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53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7DCD-E703-A4C2-BB9F-88521C4E7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A6F1-D94A-2C1E-127D-C78F9786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5B5D3-8A32-B4DA-C96B-7FE8EDDE9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E48F5-E3C1-76F3-65DD-E326BD72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5C9CF7-2E2F-3EF7-41C2-1A8C10757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53520B-FD72-F4D6-9E33-4FF46F29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4B5B32-DE0A-3D8C-EC8F-39F70FB70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9FC483-DCC9-0190-0C41-A87C115A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2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3715-9280-DC7D-BFFC-38D935D1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16A1E6-6F8C-88B9-E5E9-CAC2640DA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F98206-BD80-AFC6-317B-DCC4F76D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FDF83-D75B-F0BF-6EA3-A2E6A430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03684D-5101-297D-6104-2CA96ED6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B0C6F-DBE9-DCC4-82A1-E90151F2F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563AD-8718-3752-6D33-5E9B1CE9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0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D29B1-01C2-3C9C-1EB4-01EC9AFC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8B5AA-E136-AFA0-C213-F3DD160E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D49B9-75FF-1DF4-2319-656E49DF8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1598-6AE0-69B4-EC4A-9714727DC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1E574-6DCC-8C0B-1253-30D61C78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B22A3-CB57-9361-4281-C0166BF1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6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2AF0-389D-7A88-214E-C1D9BA1B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3311-D059-C611-3043-74DEDF8A4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41F16-48E3-3C09-EF4C-99A2C4202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009EA-467A-CA07-EBE6-583E572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9962-79FF-0B91-5926-FEE54B81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96FCE-F7BE-208E-2645-ED3D144F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8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3679-01F5-A072-965A-1C7D8EDA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28CF3-B43F-BDD4-12B9-26BB63993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B9A48-EF43-15DB-AE16-2F0BF37D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0C31C-25EC-E3AE-67A7-FDF12AD5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5424-C63C-6DB5-B5C5-30A30129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79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2B524-8DE1-7862-6EA3-63EB21599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A6484-BB7C-B3C9-FF39-B4B93B305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100C5-819F-506B-D214-4F18D9643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C3F89-DB8D-DB23-BE25-F2AAA936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5C5E-582A-1A04-F0A3-16FAA667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70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577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DDAD6C-AB43-3429-CC77-7587D8D8E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E734B-9CFC-2B6E-2322-2E18DBF53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B226-8340-6F9D-550B-144E72185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C7BA1-8F87-1B71-B4FF-363053631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5E4E7-9EEE-A3FA-E13B-8B8222964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3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79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hyperlink" Target="https://github.com/davidderoure/wolfson" TargetMode="External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Relationship Id="rId9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A699-8710-D357-00D5-77458DA81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9326"/>
            <a:ext cx="9144000" cy="256318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4800" dirty="0">
                <a:latin typeface="Optima" panose="02000503060000020004" pitchFamily="2" charset="0"/>
              </a:rPr>
              <a:t>P</a:t>
            </a:r>
            <a:r>
              <a:rPr lang="en-GB" sz="4400" dirty="0">
                <a:latin typeface="Optima" panose="02000503060000020004" pitchFamily="2" charset="0"/>
              </a:rPr>
              <a:t>ost-bop modal-tonal</a:t>
            </a:r>
            <a:br>
              <a:rPr lang="en-GB" sz="4400" dirty="0">
                <a:latin typeface="Optima" panose="02000503060000020004" pitchFamily="2" charset="0"/>
              </a:rPr>
            </a:br>
            <a:r>
              <a:rPr lang="en-GB" sz="4400" dirty="0">
                <a:latin typeface="Optima" panose="02000503060000020004" pitchFamily="2" charset="0"/>
              </a:rPr>
              <a:t>AI jazz improvisation</a:t>
            </a:r>
            <a:br>
              <a:rPr lang="en-GB" sz="4400" dirty="0">
                <a:latin typeface="Optima" panose="02000503060000020004" pitchFamily="2" charset="0"/>
              </a:rPr>
            </a:br>
            <a:br>
              <a:rPr lang="en-GB" sz="1200" dirty="0">
                <a:latin typeface="Optima" panose="02000503060000020004" pitchFamily="2" charset="0"/>
              </a:rPr>
            </a:br>
            <a:r>
              <a:rPr lang="en-GB" sz="3200" dirty="0">
                <a:latin typeface="Optima" panose="02000503060000020004" pitchFamily="2" charset="0"/>
              </a:rPr>
              <a:t>Program(me) Notes</a:t>
            </a:r>
            <a:endParaRPr lang="en-US" dirty="0">
              <a:latin typeface="Optima" panose="02000503060000020004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8886A-E50C-161E-3C72-36B38A6E4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29541"/>
            <a:ext cx="9144000" cy="108204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Optima" panose="02000503060000020004" pitchFamily="2" charset="0"/>
              </a:rPr>
              <a:t>David De Roure</a:t>
            </a:r>
          </a:p>
          <a:p>
            <a:endParaRPr lang="en-US" sz="100" dirty="0">
              <a:latin typeface="Optima" panose="02000503060000020004" pitchFamily="2" charset="0"/>
            </a:endParaRPr>
          </a:p>
          <a:p>
            <a:r>
              <a:rPr lang="en-US" sz="2000" dirty="0" err="1">
                <a:latin typeface="Optima" panose="02000503060000020004" pitchFamily="2" charset="0"/>
              </a:rPr>
              <a:t>david.deroure@wolfson.ox.ac.uk</a:t>
            </a:r>
            <a:endParaRPr lang="en-US" sz="2000" dirty="0">
              <a:latin typeface="Optima" panose="02000503060000020004" pitchFamily="2" charset="0"/>
            </a:endParaRPr>
          </a:p>
        </p:txBody>
      </p:sp>
      <p:pic>
        <p:nvPicPr>
          <p:cNvPr id="5" name="Picture 4" descr="Home - Wolfson College">
            <a:extLst>
              <a:ext uri="{FF2B5EF4-FFF2-40B4-BE49-F238E27FC236}">
                <a16:creationId xmlns:a16="http://schemas.microsoft.com/office/drawing/2014/main" id="{A7C82090-5E62-E1A6-E4B4-C8D4DACEC1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1606" y="4643512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714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CC88F-AE6F-DB2A-FA04-F7000EB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Now’s the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9520F-7551-5696-EDB0-7C99BD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/>
          </a:bodyPr>
          <a:lstStyle/>
          <a:p>
            <a:r>
              <a:rPr lang="en-GB" sz="2400" dirty="0">
                <a:latin typeface="Palatino Linotype" panose="02040502050505030304" pitchFamily="18" charset="0"/>
              </a:rPr>
              <a:t>Back in the late 1900s I was part of a jazz workshop helping people learn to play jazz.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﻿﻿One of the exercises was called "slick licks" - we would sit in a circle and “trade licks” on our instruments.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A big barrier for jazz learners can be finding people to play with.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﻿﻿Q. Can I build a software system to enable people to practice their slick licks? And specifically… can a bass player use this?!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It should listen and respond, sometimes lead, be realistic enough to be useful. 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NB This interactive “robot”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is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designed for practice purposes, and it's not intended to replace a human player. Human interaction was key to slick licks!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824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ABF3-8A46-2D39-4B69-7D6539198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8CE5-E8E0-C4B1-5023-E87C6B69A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All the things I have been</a:t>
            </a:r>
            <a:r>
              <a:rPr lang="en-US" baseline="30000" dirty="0">
                <a:latin typeface="Optima" panose="02000503060000020004" pitchFamily="2" charset="0"/>
              </a:rPr>
              <a:t>*</a:t>
            </a:r>
            <a:r>
              <a:rPr lang="en-US" dirty="0">
                <a:latin typeface="Optima" panose="02000503060000020004" pitchFamily="2" charset="0"/>
              </a:rPr>
              <a:t> thinking about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AA6F-DAF5-13CA-340F-76911425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FBBEE-44A6-7FC5-BA96-97C3F7AD7DA8}"/>
              </a:ext>
            </a:extLst>
          </p:cNvPr>
          <p:cNvSpPr txBox="1"/>
          <p:nvPr/>
        </p:nvSpPr>
        <p:spPr>
          <a:xfrm>
            <a:off x="838200" y="1393902"/>
            <a:ext cx="3954966" cy="4947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analysis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Question and answer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Leadership &amp; role swapping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Contour steering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Opening echo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Chord conditioning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Harmonic modes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Scale pitch bias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Pitch range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Swing / triplet feel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Live tempo tracking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6428-37ED-DE63-E2D0-FD373F93A297}"/>
              </a:ext>
            </a:extLst>
          </p:cNvPr>
          <p:cNvSpPr txBox="1"/>
          <p:nvPr/>
        </p:nvSpPr>
        <p:spPr>
          <a:xfrm>
            <a:off x="4056193" y="1393902"/>
            <a:ext cx="3954966" cy="4947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Dynamics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Generation temperature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Phrase-shape dynamics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Articulation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Bass pitch-class tracking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Energy arc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Motivic development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Lyrical motif re-use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Voice leading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Modal leap bonus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Stochastic thinning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breathing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9EEF0-8FF6-3D2F-92C2-1A7DED7D44B1}"/>
              </a:ext>
            </a:extLst>
          </p:cNvPr>
          <p:cNvSpPr txBox="1"/>
          <p:nvPr/>
        </p:nvSpPr>
        <p:spPr>
          <a:xfrm>
            <a:off x="7704622" y="1393902"/>
            <a:ext cx="4182577" cy="4947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Singable duration bias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Rhythmic density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Rhythmic complementarity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Register contrast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length control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Beat-matching / trading bars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Repetition control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Sax riff / insistence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Proactive mode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Turn-taking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Loop mode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Arc timing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A5D39-3627-CFE9-597E-D3C8505EA7A7}"/>
              </a:ext>
            </a:extLst>
          </p:cNvPr>
          <p:cNvSpPr txBox="1"/>
          <p:nvPr/>
        </p:nvSpPr>
        <p:spPr>
          <a:xfrm>
            <a:off x="9240640" y="6341731"/>
            <a:ext cx="33639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latin typeface="Palatino Linotype" panose="02040502050505030304" pitchFamily="18" charset="0"/>
              </a:rPr>
              <a:t>* Good name for a song?</a:t>
            </a:r>
          </a:p>
        </p:txBody>
      </p:sp>
    </p:spTree>
    <p:extLst>
      <p:ext uri="{BB962C8B-B14F-4D97-AF65-F5344CB8AC3E}">
        <p14:creationId xmlns:p14="http://schemas.microsoft.com/office/powerpoint/2010/main" val="1291464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6E05-FA9B-095E-4E7D-E2C69EEF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8DA-C53E-E2A4-D95F-B35F61C1B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Fly me to the moon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6C1C-8CCE-241D-FE04-37A75C51F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6540061" cy="4828478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400" b="1" dirty="0">
                <a:latin typeface="Palatino Linotype" panose="02040502050505030304" pitchFamily="18" charset="0"/>
              </a:rPr>
              <a:t>Five giant steps in the arc:</a:t>
            </a:r>
            <a:br>
              <a:rPr lang="en-GB" sz="2400" b="1" dirty="0">
                <a:latin typeface="Palatino Linotype" panose="02040502050505030304" pitchFamily="18" charset="0"/>
              </a:rPr>
            </a:br>
            <a:endParaRPr lang="en-GB" sz="1200" b="1" dirty="0">
              <a:latin typeface="Palatino Linotype" panose="02040502050505030304" pitchFamily="18" charset="0"/>
            </a:endParaRP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Sparse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Exploratory, establish motifs slowly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Building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Mixed, lines begin to flow, groove warming up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Peak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Fast, active, max rhythmic intensity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Recapitulation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Lyrical return, singable motifs recalled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Resolution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Slowest, long tones, fading out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647FFC-DAFE-7E3F-4130-FD88E7EAF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307" y="1170878"/>
            <a:ext cx="4263737" cy="37461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B3EBC4-F166-607D-B1D4-5664B1F69E01}"/>
              </a:ext>
            </a:extLst>
          </p:cNvPr>
          <p:cNvSpPr txBox="1"/>
          <p:nvPr/>
        </p:nvSpPr>
        <p:spPr>
          <a:xfrm>
            <a:off x="7495306" y="5353422"/>
            <a:ext cx="42637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 err="1"/>
              <a:t>wolfson.numbersintonotes.net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2081521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4156B-7C53-A98E-A12C-E6740C13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D851-7C60-ACEB-5BC2-3F020AB5E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Sentimental journeys</a:t>
            </a:r>
            <a:endParaRPr lang="en-US" baseline="30000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25AC-6F63-9883-F3FF-5941FD625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4771"/>
            <a:ext cx="10078844" cy="5018049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latin typeface="Palatino Linotype" panose="02040502050505030304" pitchFamily="18" charset="0"/>
              </a:rPr>
              <a:t>This is inspired by:</a:t>
            </a:r>
          </a:p>
          <a:p>
            <a:pPr>
              <a:lnSpc>
                <a:spcPct val="110000"/>
              </a:lnSpc>
            </a:pPr>
            <a:r>
              <a:rPr lang="en-GB" i="1" dirty="0">
                <a:latin typeface="Palatino Linotype" panose="02040502050505030304" pitchFamily="18" charset="0"/>
              </a:rPr>
              <a:t>Post-bop modal-tonal hybrids </a:t>
            </a:r>
            <a:r>
              <a:rPr lang="en-GB" dirty="0">
                <a:latin typeface="Palatino Linotype" panose="02040502050505030304" pitchFamily="18" charset="0"/>
              </a:rPr>
              <a:t>like:</a:t>
            </a:r>
          </a:p>
          <a:p>
            <a:pPr lvl="1">
              <a:lnSpc>
                <a:spcPct val="110000"/>
              </a:lnSpc>
            </a:pPr>
            <a:r>
              <a:rPr lang="en-GB" sz="2200" b="1" dirty="0">
                <a:latin typeface="Palatino Linotype" panose="02040502050505030304" pitchFamily="18" charset="0"/>
              </a:rPr>
              <a:t>Milestones</a:t>
            </a:r>
            <a:r>
              <a:rPr lang="en-GB" sz="2200" dirty="0">
                <a:latin typeface="Palatino Linotype" panose="02040502050505030304" pitchFamily="18" charset="0"/>
              </a:rPr>
              <a:t> (Miles Davis), </a:t>
            </a:r>
            <a:r>
              <a:rPr lang="en-GB" sz="2200" b="1" dirty="0">
                <a:latin typeface="Palatino Linotype" panose="02040502050505030304" pitchFamily="18" charset="0"/>
              </a:rPr>
              <a:t>Little Sunflower</a:t>
            </a:r>
            <a:r>
              <a:rPr lang="en-GB" sz="2200" dirty="0">
                <a:latin typeface="Palatino Linotype" panose="02040502050505030304" pitchFamily="18" charset="0"/>
              </a:rPr>
              <a:t> (Freddie Hubbard), </a:t>
            </a:r>
            <a:r>
              <a:rPr lang="en-GB" sz="2200" b="1" dirty="0">
                <a:latin typeface="Palatino Linotype" panose="02040502050505030304" pitchFamily="18" charset="0"/>
              </a:rPr>
              <a:t>Maiden Voyage</a:t>
            </a:r>
            <a:r>
              <a:rPr lang="en-GB" sz="2200" dirty="0">
                <a:latin typeface="Palatino Linotype" panose="02040502050505030304" pitchFamily="18" charset="0"/>
              </a:rPr>
              <a:t> (Herbie Hancock), </a:t>
            </a:r>
            <a:r>
              <a:rPr lang="en-GB" sz="2200" b="1" dirty="0">
                <a:latin typeface="Palatino Linotype" panose="02040502050505030304" pitchFamily="18" charset="0"/>
              </a:rPr>
              <a:t>Footprints</a:t>
            </a:r>
            <a:r>
              <a:rPr lang="en-GB" sz="2200" dirty="0">
                <a:latin typeface="Palatino Linotype" panose="02040502050505030304" pitchFamily="18" charset="0"/>
              </a:rPr>
              <a:t> (Wayne Shorter). These songs are my favourite things*.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But also a journey through jazz: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Sparse opening resembles the chromatic freedom of free jazz,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Modal building stage reflects the Miles/Coltrane modal period,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Peak progression echoes hard bop,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Pedal resolution has the meditative quality of late Coltrane.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70B48D-CD4E-B22D-68E4-0BAC398292EB}"/>
              </a:ext>
            </a:extLst>
          </p:cNvPr>
          <p:cNvSpPr txBox="1"/>
          <p:nvPr/>
        </p:nvSpPr>
        <p:spPr>
          <a:xfrm>
            <a:off x="9316720" y="6042770"/>
            <a:ext cx="2499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dirty="0">
                <a:latin typeface="Palatino Linotype" panose="02040502050505030304" pitchFamily="18" charset="0"/>
              </a:rPr>
              <a:t>* John Coltrane</a:t>
            </a:r>
          </a:p>
        </p:txBody>
      </p:sp>
    </p:spTree>
    <p:extLst>
      <p:ext uri="{BB962C8B-B14F-4D97-AF65-F5344CB8AC3E}">
        <p14:creationId xmlns:p14="http://schemas.microsoft.com/office/powerpoint/2010/main" val="3638156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751962" y="4836848"/>
            <a:ext cx="2264263" cy="16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Pipeline</a:t>
            </a:r>
            <a:endParaRPr 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65760" y="761879"/>
            <a:ext cx="1889760" cy="755904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761879"/>
            <a:ext cx="1889760" cy="6679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</a:t>
            </a:r>
            <a:b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(pitch-to-MIDI)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65125" y="761879"/>
            <a:ext cx="1889760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5125" y="761879"/>
            <a:ext cx="1889760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MidiListener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16430" y="761879"/>
            <a:ext cx="2291561" cy="1426629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77390" y="761879"/>
            <a:ext cx="2197479" cy="583084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PhraseDetector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410379" y="761879"/>
            <a:ext cx="3413760" cy="1671258"/>
          </a:xfrm>
          <a:prstGeom prst="roundRect">
            <a:avLst>
              <a:gd name="adj" fmla="val 5333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471339" y="761878"/>
            <a:ext cx="3291840" cy="537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PhraseAnalyzer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776139" y="1328482"/>
            <a:ext cx="2950464" cy="1134021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 · density · Q&amp;A type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· dynamics · energy profile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classes · interval motifs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05528" y="1139298"/>
            <a:ext cx="497224" cy="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389639" y="1803148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89637" y="1884683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BeatEstimator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987040" y="2199643"/>
            <a:ext cx="1694688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tempo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66160" y="1391663"/>
            <a:ext cx="0" cy="35356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55181" y="2755535"/>
            <a:ext cx="3291840" cy="1287592"/>
          </a:xfrm>
          <a:prstGeom prst="roundRect">
            <a:avLst>
              <a:gd name="adj" fmla="val 8421"/>
            </a:avLst>
          </a:prstGeom>
          <a:solidFill>
            <a:srgbClr val="16205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616141" y="2842482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817309" y="3198094"/>
            <a:ext cx="2767584" cy="79248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phrases +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voices (bass + sax)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839200" y="2610826"/>
            <a:ext cx="0" cy="82137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912608" y="3432201"/>
            <a:ext cx="926592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head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566160" y="2734336"/>
            <a:ext cx="0" cy="6978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555436" y="3432201"/>
            <a:ext cx="894643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457901" y="4522399"/>
            <a:ext cx="5486400" cy="1489456"/>
          </a:xfrm>
          <a:prstGeom prst="roundRect">
            <a:avLst>
              <a:gd name="adj" fmla="val 800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518861" y="4574896"/>
            <a:ext cx="5364480" cy="31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555437" y="4886419"/>
            <a:ext cx="5291328" cy="8534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performance arc  ·  leadership &amp; proactive mode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 pitch-class tracking  ·  energy arc selection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 + lyrical motif selection  ·  register contrast scheduling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rhythmic density + complementarity  ·  stage swing baseline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201101" y="4125109"/>
            <a:ext cx="0" cy="315309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82A67C06-F31C-A34E-B75C-378998F00D80}"/>
              </a:ext>
            </a:extLst>
          </p:cNvPr>
          <p:cNvSpPr/>
          <p:nvPr/>
        </p:nvSpPr>
        <p:spPr>
          <a:xfrm>
            <a:off x="6201101" y="617327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BE87611D-8695-346E-CD03-8723D7EC6F13}"/>
              </a:ext>
            </a:extLst>
          </p:cNvPr>
          <p:cNvSpPr/>
          <p:nvPr/>
        </p:nvSpPr>
        <p:spPr>
          <a:xfrm>
            <a:off x="4834130" y="113929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7493AAE1-3A41-2F24-A433-15942ED6887C}"/>
              </a:ext>
            </a:extLst>
          </p:cNvPr>
          <p:cNvSpPr/>
          <p:nvPr/>
        </p:nvSpPr>
        <p:spPr>
          <a:xfrm>
            <a:off x="2389639" y="1108553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Text 10">
            <a:extLst>
              <a:ext uri="{FF2B5EF4-FFF2-40B4-BE49-F238E27FC236}">
                <a16:creationId xmlns:a16="http://schemas.microsoft.com/office/drawing/2014/main" id="{035CAC2A-78AD-68B9-ED4D-6D53C2E1AA41}"/>
              </a:ext>
            </a:extLst>
          </p:cNvPr>
          <p:cNvSpPr/>
          <p:nvPr/>
        </p:nvSpPr>
        <p:spPr>
          <a:xfrm>
            <a:off x="5692404" y="1278995"/>
            <a:ext cx="1463459" cy="87629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range</a:t>
            </a: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min</a:t>
            </a: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dur min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7D6019D4-9F06-D4F8-9055-5C0B69571156}"/>
              </a:ext>
            </a:extLst>
          </p:cNvPr>
          <p:cNvSpPr/>
          <p:nvPr/>
        </p:nvSpPr>
        <p:spPr>
          <a:xfrm>
            <a:off x="358153" y="4886419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F402484E-1CC6-34A6-5E23-247659ED013C}"/>
              </a:ext>
            </a:extLst>
          </p:cNvPr>
          <p:cNvSpPr/>
          <p:nvPr/>
        </p:nvSpPr>
        <p:spPr>
          <a:xfrm>
            <a:off x="358151" y="4967954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Loop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8093E773-011C-6678-EF78-708CE8296041}"/>
              </a:ext>
            </a:extLst>
          </p:cNvPr>
          <p:cNvSpPr/>
          <p:nvPr/>
        </p:nvSpPr>
        <p:spPr>
          <a:xfrm>
            <a:off x="525517" y="5295648"/>
            <a:ext cx="2124721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when bass paused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13">
            <a:extLst>
              <a:ext uri="{FF2B5EF4-FFF2-40B4-BE49-F238E27FC236}">
                <a16:creationId xmlns:a16="http://schemas.microsoft.com/office/drawing/2014/main" id="{FD5AEDBA-8E6D-A402-A41C-3F190A48E5BC}"/>
              </a:ext>
            </a:extLst>
          </p:cNvPr>
          <p:cNvSpPr/>
          <p:nvPr/>
        </p:nvSpPr>
        <p:spPr>
          <a:xfrm>
            <a:off x="2767590" y="530091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535678" y="240298"/>
            <a:ext cx="2888140" cy="13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258571" y="681983"/>
            <a:ext cx="2767053" cy="536448"/>
          </a:xfrm>
          <a:prstGeom prst="roundRect">
            <a:avLst>
              <a:gd name="adj" fmla="val 18182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2447537" y="681983"/>
            <a:ext cx="4389120" cy="536448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431901" y="1663639"/>
            <a:ext cx="4420393" cy="717212"/>
          </a:xfrm>
          <a:prstGeom prst="roundRect">
            <a:avLst>
              <a:gd name="adj" fmla="val 15385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74257" y="1746866"/>
            <a:ext cx="353568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HarmonyController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2548256" y="2063329"/>
            <a:ext cx="4187683" cy="268224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mode, progression, pedal, tritone substitution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177808" y="2808994"/>
            <a:ext cx="6928578" cy="1786648"/>
          </a:xfrm>
          <a:prstGeom prst="roundRect">
            <a:avLst>
              <a:gd name="adj" fmla="val 678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33684" y="2877369"/>
            <a:ext cx="6816827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PhraseGenerator (LSTM)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42987" y="3193004"/>
            <a:ext cx="6398220" cy="1279645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+ chord conditioning  ·  pitch range limits · register gravity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contrast  ·  scale pitch bias  ·  contour steering · swing/triplet bias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shaping swing/triplet bias · long-note penalty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singable duration bias  ·  motivic development · voice leading  ·  modal leap bonus (P4/P5)  ·  repetition penalty · rest injection  ·  beat accumulator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4533" y="5114147"/>
            <a:ext cx="2129360" cy="111423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329" y="5208720"/>
            <a:ext cx="25603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32714" y="5574480"/>
            <a:ext cx="2129359" cy="56083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 · recall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self-play seed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310872" y="5103546"/>
            <a:ext cx="3291840" cy="119322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71832" y="5362976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WebAudienceDisplay /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OscOutput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Dashboard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495872" y="5890195"/>
            <a:ext cx="2921840" cy="42672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sees full intended phrase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697712" y="2360827"/>
            <a:ext cx="2316480" cy="159848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754696" y="2550995"/>
            <a:ext cx="2194560" cy="488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thinning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916298" y="3096865"/>
            <a:ext cx="2000358" cy="779017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notes dropped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stochastically · velocity jitter on sax riff replays</a:t>
            </a:r>
          </a:p>
          <a:p>
            <a:pPr defTabSz="1219170"/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704213" y="4451332"/>
            <a:ext cx="2316480" cy="998153"/>
          </a:xfrm>
          <a:prstGeom prst="roundRect">
            <a:avLst>
              <a:gd name="adj" fmla="val 17391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765173" y="4545904"/>
            <a:ext cx="21945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036339" y="4870099"/>
            <a:ext cx="1886818" cy="57938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· peak accent · end taper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980858" y="5905979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842520" y="5905979"/>
            <a:ext cx="1745341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chord hint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956792" y="4854401"/>
            <a:ext cx="0" cy="609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808074" y="4711280"/>
            <a:ext cx="1" cy="335547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956792" y="4677107"/>
            <a:ext cx="0" cy="33950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F73742D-C58B-745E-C84B-09469BF39C30}"/>
              </a:ext>
            </a:extLst>
          </p:cNvPr>
          <p:cNvSpPr/>
          <p:nvPr/>
        </p:nvSpPr>
        <p:spPr>
          <a:xfrm flipH="1">
            <a:off x="9757849" y="4062775"/>
            <a:ext cx="7600" cy="3233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D564B4AF-489C-043B-EABE-47C335D52D83}"/>
              </a:ext>
            </a:extLst>
          </p:cNvPr>
          <p:cNvSpPr/>
          <p:nvPr/>
        </p:nvSpPr>
        <p:spPr>
          <a:xfrm>
            <a:off x="10724802" y="5507313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Shape 31">
            <a:extLst>
              <a:ext uri="{FF2B5EF4-FFF2-40B4-BE49-F238E27FC236}">
                <a16:creationId xmlns:a16="http://schemas.microsoft.com/office/drawing/2014/main" id="{75C8DDBB-FB84-20C6-A810-B200A3A2F6C0}"/>
              </a:ext>
            </a:extLst>
          </p:cNvPr>
          <p:cNvSpPr/>
          <p:nvPr/>
        </p:nvSpPr>
        <p:spPr>
          <a:xfrm>
            <a:off x="4642097" y="1302513"/>
            <a:ext cx="0" cy="31063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87FC4B10-340A-6F3B-E434-9066D920521B}"/>
              </a:ext>
            </a:extLst>
          </p:cNvPr>
          <p:cNvSpPr/>
          <p:nvPr/>
        </p:nvSpPr>
        <p:spPr>
          <a:xfrm>
            <a:off x="4642097" y="2468343"/>
            <a:ext cx="0" cy="29861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Shape 13">
            <a:extLst>
              <a:ext uri="{FF2B5EF4-FFF2-40B4-BE49-F238E27FC236}">
                <a16:creationId xmlns:a16="http://schemas.microsoft.com/office/drawing/2014/main" id="{C7B5150A-7B3C-0DF6-D272-7A58E5994619}"/>
              </a:ext>
            </a:extLst>
          </p:cNvPr>
          <p:cNvSpPr/>
          <p:nvPr/>
        </p:nvSpPr>
        <p:spPr>
          <a:xfrm>
            <a:off x="8218597" y="3341506"/>
            <a:ext cx="346428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25">
            <a:extLst>
              <a:ext uri="{FF2B5EF4-FFF2-40B4-BE49-F238E27FC236}">
                <a16:creationId xmlns:a16="http://schemas.microsoft.com/office/drawing/2014/main" id="{4583DD6A-C613-B405-EAE6-8416DC69717E}"/>
              </a:ext>
            </a:extLst>
          </p:cNvPr>
          <p:cNvSpPr/>
          <p:nvPr/>
        </p:nvSpPr>
        <p:spPr>
          <a:xfrm>
            <a:off x="8308575" y="5905979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08D64C15-18D0-D71F-2D4C-F78FC3266243}"/>
              </a:ext>
            </a:extLst>
          </p:cNvPr>
          <p:cNvSpPr/>
          <p:nvPr/>
        </p:nvSpPr>
        <p:spPr>
          <a:xfrm>
            <a:off x="8360281" y="5905979"/>
            <a:ext cx="1374805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 voice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31">
            <a:extLst>
              <a:ext uri="{FF2B5EF4-FFF2-40B4-BE49-F238E27FC236}">
                <a16:creationId xmlns:a16="http://schemas.microsoft.com/office/drawing/2014/main" id="{0D855650-D917-4301-429C-1296A2A02AF1}"/>
              </a:ext>
            </a:extLst>
          </p:cNvPr>
          <p:cNvSpPr/>
          <p:nvPr/>
        </p:nvSpPr>
        <p:spPr>
          <a:xfrm>
            <a:off x="9036339" y="5507313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6B0AC4B-78C1-CBB0-9E89-0366A38A8E1A}"/>
              </a:ext>
            </a:extLst>
          </p:cNvPr>
          <p:cNvSpPr/>
          <p:nvPr/>
        </p:nvSpPr>
        <p:spPr>
          <a:xfrm>
            <a:off x="4642097" y="9250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4B5C3-4E97-2FBD-C3E6-8CA09117A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01B8-D5D3-E4A7-6E0F-ADA4EC976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Soul A-eyes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5404BD-1090-3089-CBFF-BBD904D4AD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40340" y="1355491"/>
            <a:ext cx="5470057" cy="41470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7D8AC2-49A7-BC76-BD7E-3E94A6B53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580" y="1355492"/>
            <a:ext cx="4831664" cy="41470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575787-65A4-F6FC-5F3E-2143B5A3637C}"/>
              </a:ext>
            </a:extLst>
          </p:cNvPr>
          <p:cNvSpPr txBox="1"/>
          <p:nvPr/>
        </p:nvSpPr>
        <p:spPr>
          <a:xfrm>
            <a:off x="2821259" y="5846544"/>
            <a:ext cx="68468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/>
              <a:t>wolfson.numbersintonotes.net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2769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93BB-5984-061A-79FE-248D7810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065DF7-EEE5-CCF2-2669-649CAF4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3249"/>
            <a:ext cx="10515600" cy="5273714"/>
          </a:xfrm>
        </p:spPr>
        <p:txBody>
          <a:bodyPr>
            <a:normAutofit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Repo is on </a:t>
            </a:r>
            <a:r>
              <a:rPr lang="en-US" dirty="0">
                <a:latin typeface="Palatino Linotype" panose="02040502050505030304" pitchFamily="18" charset="0"/>
                <a:hlinkClick r:id="rId3"/>
              </a:rPr>
              <a:t>github.com/davidderoure/wolfson</a:t>
            </a:r>
            <a:r>
              <a:rPr lang="en-US" dirty="0">
                <a:latin typeface="Palatino Linotype" panose="02040502050505030304" pitchFamily="18" charset="0"/>
              </a:rPr>
              <a:t>  </a:t>
            </a:r>
          </a:p>
          <a:p>
            <a:endParaRPr lang="en-US" dirty="0">
              <a:latin typeface="Palatino Linotype" panose="02040502050505030304" pitchFamily="18" charset="0"/>
            </a:endParaRPr>
          </a:p>
          <a:p>
            <a:r>
              <a:rPr lang="en-US" dirty="0">
                <a:latin typeface="Palatino Linotype" panose="02040502050505030304" pitchFamily="18" charset="0"/>
              </a:rPr>
              <a:t>Acknowledgement: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Ray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Lisp, AI,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Mark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AI, creativity,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George E Lewis (for Voyager and Forager)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Robert Laidlow (for Alter-</a:t>
            </a:r>
            <a:r>
              <a:rPr lang="en-US" sz="2200" dirty="0" err="1">
                <a:latin typeface="Palatino Linotype" panose="02040502050505030304" pitchFamily="18" charset="0"/>
              </a:rPr>
              <a:t>ing</a:t>
            </a:r>
            <a:r>
              <a:rPr lang="en-US" sz="2200" dirty="0">
                <a:latin typeface="Palatino Linotype" panose="02040502050505030304" pitchFamily="18" charset="0"/>
              </a:rPr>
              <a:t> Ada Lovelace, and sax)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Hongshuo</a:t>
            </a:r>
            <a:r>
              <a:rPr lang="en-US" sz="2200" dirty="0">
                <a:latin typeface="Palatino Linotype" panose="02040502050505030304" pitchFamily="18" charset="0"/>
              </a:rPr>
              <a:t> Fan (for Music Gesture Recognition)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Bofan</a:t>
            </a:r>
            <a:r>
              <a:rPr lang="en-US" sz="2200" dirty="0">
                <a:latin typeface="Palatino Linotype" panose="02040502050505030304" pitchFamily="18" charset="0"/>
              </a:rPr>
              <a:t> Ma (for always enabling musicality)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Maria </a:t>
            </a:r>
            <a:r>
              <a:rPr lang="en-US" sz="2200" dirty="0" err="1">
                <a:latin typeface="Palatino Linotype" panose="02040502050505030304" pitchFamily="18" charset="0"/>
              </a:rPr>
              <a:t>Kallionpää</a:t>
            </a:r>
            <a:r>
              <a:rPr lang="en-US" sz="2200" dirty="0">
                <a:latin typeface="Palatino Linotype" panose="02040502050505030304" pitchFamily="18" charset="0"/>
              </a:rPr>
              <a:t> (for Climb!)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Wolfson Digital Research Cluster (for AIMC 2024)</a:t>
            </a:r>
          </a:p>
          <a:p>
            <a:pPr lvl="1"/>
            <a:endParaRPr lang="en-US" dirty="0">
              <a:latin typeface="Palatino Linotype" panose="02040502050505030304" pitchFamily="18" charset="0"/>
            </a:endParaRPr>
          </a:p>
          <a:p>
            <a:pPr lvl="0"/>
            <a:r>
              <a:rPr lang="en-US" sz="2400" i="1" dirty="0">
                <a:latin typeface="Palatino Linotype" panose="02040502050505030304" pitchFamily="18" charset="0"/>
              </a:rPr>
              <a:t>Grand Challenges for Computing Research</a:t>
            </a:r>
            <a:r>
              <a:rPr lang="en-US" sz="2400" dirty="0">
                <a:latin typeface="Palatino Linotype" panose="02040502050505030304" pitchFamily="18" charset="0"/>
              </a:rPr>
              <a:t> – Tony Hoare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14" name="Picture 13" descr="A blue and white logo&#10;&#10;Description automatically generated">
            <a:extLst>
              <a:ext uri="{FF2B5EF4-FFF2-40B4-BE49-F238E27FC236}">
                <a16:creationId xmlns:a16="http://schemas.microsoft.com/office/drawing/2014/main" id="{AE2E2FB4-45D4-955A-DA70-41F10F631E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49" y="2074097"/>
            <a:ext cx="741532" cy="741532"/>
          </a:xfrm>
          <a:prstGeom prst="rect">
            <a:avLst/>
          </a:prstGeom>
        </p:spPr>
      </p:pic>
      <p:pic>
        <p:nvPicPr>
          <p:cNvPr id="16" name="Picture 15" descr="torch logo icon">
            <a:extLst>
              <a:ext uri="{FF2B5EF4-FFF2-40B4-BE49-F238E27FC236}">
                <a16:creationId xmlns:a16="http://schemas.microsoft.com/office/drawing/2014/main" id="{AF5C0374-A45C-8F4F-13B3-71AE93C08B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0223" y="2077414"/>
            <a:ext cx="737827" cy="737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performance research logo black">
            <a:extLst>
              <a:ext uri="{FF2B5EF4-FFF2-40B4-BE49-F238E27FC236}">
                <a16:creationId xmlns:a16="http://schemas.microsoft.com/office/drawing/2014/main" id="{4898947E-1E9F-6C26-EC1A-DCA7850E59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407" y="3916247"/>
            <a:ext cx="1578927" cy="892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een and white logo&#10;&#10;Description automatically generated">
            <a:extLst>
              <a:ext uri="{FF2B5EF4-FFF2-40B4-BE49-F238E27FC236}">
                <a16:creationId xmlns:a16="http://schemas.microsoft.com/office/drawing/2014/main" id="{E44206BB-E239-0EB4-52D5-DB5A84D138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407" y="2994854"/>
            <a:ext cx="1535643" cy="779824"/>
          </a:xfrm>
          <a:prstGeom prst="rect">
            <a:avLst/>
          </a:prstGeom>
        </p:spPr>
      </p:pic>
      <p:pic>
        <p:nvPicPr>
          <p:cNvPr id="19" name="Picture 2" descr="PRiSM logo with text">
            <a:extLst>
              <a:ext uri="{FF2B5EF4-FFF2-40B4-BE49-F238E27FC236}">
                <a16:creationId xmlns:a16="http://schemas.microsoft.com/office/drawing/2014/main" id="{F097A706-7944-CDD7-69C4-1D5CA67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320" y="722397"/>
            <a:ext cx="2079898" cy="892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Home - Wolfson College">
            <a:extLst>
              <a:ext uri="{FF2B5EF4-FFF2-40B4-BE49-F238E27FC236}">
                <a16:creationId xmlns:a16="http://schemas.microsoft.com/office/drawing/2014/main" id="{E16D70A7-BF5F-F8A7-82FF-A057B33F09F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9587" y="4982989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5378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82847-2996-7214-8037-C7F86A407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3241A-102A-3C3B-86F2-2AD6434B3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Radar of the lost archive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28595-06A4-2AEC-2FC9-2E9E63645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5085080" cy="5241074"/>
          </a:xfrm>
        </p:spPr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Grand Challenges Exercise of the UK Computing Research Committee (UKCRC) 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Workshop held in Edinburgh November 2002, discussed 109 submissions.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Archival research suggests my submission was “The creative electronic musician”. Or maybe “Interactive Electronic Musician”.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Tony Hoare was Chair of the programme committee.</a:t>
            </a:r>
          </a:p>
          <a:p>
            <a:pPr>
              <a:lnSpc>
                <a:spcPct val="11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B2208F-6F12-79CA-A9C1-4E0A784D3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788" y="1640644"/>
            <a:ext cx="4609251" cy="4717521"/>
          </a:xfrm>
          <a:prstGeom prst="rect">
            <a:avLst/>
          </a:prstGeom>
          <a:ln>
            <a:solidFill>
              <a:srgbClr val="CADCFC"/>
            </a:solidFill>
          </a:ln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6991674F-8739-AB95-371A-B9C929DC5189}"/>
              </a:ext>
            </a:extLst>
          </p:cNvPr>
          <p:cNvSpPr/>
          <p:nvPr/>
        </p:nvSpPr>
        <p:spPr>
          <a:xfrm>
            <a:off x="6096000" y="3934818"/>
            <a:ext cx="762000" cy="406400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F1EAC7-9720-561B-E6BA-A0424A5D5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764" y="609600"/>
            <a:ext cx="5042991" cy="103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577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F209-013F-6D3B-C37E-800D01E6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2039-95D3-7284-293F-74EF8AB67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9296"/>
            <a:ext cx="10515600" cy="805753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GB" dirty="0">
                <a:latin typeface="Palatino Linotype" panose="02040502050505030304" pitchFamily="18" charset="0"/>
              </a:rPr>
              <a:t>Someday my footprints will come but we might not be quite there yet: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D06D-6FD1-F54D-1BE3-2C1CCEDA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1902"/>
            <a:ext cx="10376338" cy="478306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It uses MIDI, so perhaps it inevitably sounds like a very good MIDI file and there’ll be a lack of expression/articulation.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time feel might be mechanical – lack of </a:t>
            </a:r>
            <a:r>
              <a:rPr lang="en-GB" sz="2400" dirty="0" err="1">
                <a:latin typeface="Palatino Linotype" panose="02040502050505030304" pitchFamily="18" charset="0"/>
              </a:rPr>
              <a:t>microtiming</a:t>
            </a:r>
            <a:r>
              <a:rPr lang="en-GB" sz="2400" dirty="0">
                <a:latin typeface="Palatino Linotype" panose="02040502050505030304" pitchFamily="18" charset="0"/>
              </a:rPr>
              <a:t>, crucial to jazz.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Conversation mostly polite, by design.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No personal voice – it’s generalised be-bop.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arc is clock-driven, not music-driven – deliberately for this performance.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Motivic development might feel like repetition – because it is.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audience might feel it would be ‘more musical’ if </a:t>
            </a:r>
            <a:r>
              <a:rPr lang="en-GB" sz="2400">
                <a:latin typeface="Palatino Linotype" panose="02040502050505030304" pitchFamily="18" charset="0"/>
              </a:rPr>
              <a:t>it followed a </a:t>
            </a:r>
            <a:r>
              <a:rPr lang="en-GB" sz="2400" dirty="0">
                <a:latin typeface="Palatino Linotype" panose="02040502050505030304" pitchFamily="18" charset="0"/>
              </a:rPr>
              <a:t>fixed, pre-set chord progression – but the whole point is that it doesn’t, it’s responsive. There are plenty of play-along programs out there.</a:t>
            </a:r>
          </a:p>
          <a:p>
            <a:pPr>
              <a:lnSpc>
                <a:spcPct val="12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  <a:p>
            <a:pPr>
              <a:lnSpc>
                <a:spcPct val="120000"/>
              </a:lnSpc>
            </a:pPr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039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12399</TotalTime>
  <Words>937</Words>
  <Application>Microsoft Macintosh PowerPoint</Application>
  <PresentationFormat>Widescreen</PresentationFormat>
  <Paragraphs>149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Garamond</vt:lpstr>
      <vt:lpstr>Optima</vt:lpstr>
      <vt:lpstr>Palatino Linotype</vt:lpstr>
      <vt:lpstr>Office Theme</vt:lpstr>
      <vt:lpstr>1_Office Theme</vt:lpstr>
      <vt:lpstr>Post-bop modal-tonal AI jazz improvisation  Program(me) Notes</vt:lpstr>
      <vt:lpstr>Now’s the time</vt:lpstr>
      <vt:lpstr>All the things I have been* thinking about </vt:lpstr>
      <vt:lpstr>Fly me to the moon</vt:lpstr>
      <vt:lpstr>Sentimental journeys</vt:lpstr>
      <vt:lpstr>PowerPoint Presentation</vt:lpstr>
      <vt:lpstr>PowerPoint Presentation</vt:lpstr>
      <vt:lpstr>Soul A-eyes</vt:lpstr>
      <vt:lpstr>PowerPoint Presentation</vt:lpstr>
      <vt:lpstr>Radar of the lost archive</vt:lpstr>
      <vt:lpstr>Someday my footprints will come but we might not be quite there yet: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De Roure</dc:creator>
  <cp:lastModifiedBy>David De Roure</cp:lastModifiedBy>
  <cp:revision>44</cp:revision>
  <dcterms:created xsi:type="dcterms:W3CDTF">2026-03-31T17:42:52Z</dcterms:created>
  <dcterms:modified xsi:type="dcterms:W3CDTF">2026-04-09T08:31:43Z</dcterms:modified>
</cp:coreProperties>
</file>