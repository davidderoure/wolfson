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2"/>
  </p:notesMasterIdLst>
  <p:sldIdLst>
    <p:sldId id="256" r:id="rId3"/>
    <p:sldId id="257" r:id="rId4"/>
    <p:sldId id="259" r:id="rId5"/>
    <p:sldId id="258" r:id="rId6"/>
    <p:sldId id="264" r:id="rId7"/>
    <p:sldId id="262" r:id="rId8"/>
    <p:sldId id="263" r:id="rId9"/>
    <p:sldId id="260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660"/>
  </p:normalViewPr>
  <p:slideViewPr>
    <p:cSldViewPr snapToGrid="0">
      <p:cViewPr varScale="1">
        <p:scale>
          <a:sx n="114" d="100"/>
          <a:sy n="114" d="100"/>
        </p:scale>
        <p:origin x="504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4EE45-609D-D677-B43A-1B23ED1C7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E766DD-6C9D-4F48-DE19-C2C90B38D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4DCF14-5DDD-BC52-2EC2-7F5531F58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D2C179-DB8F-F062-1E98-FE92A957E4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0147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286300"/>
          </a:xfrm>
        </p:spPr>
        <p:txBody>
          <a:bodyPr/>
          <a:lstStyle/>
          <a:p>
            <a:r>
              <a:rPr lang="en-US" dirty="0"/>
              <a:t>Slick Licks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01975"/>
            <a:ext cx="9144000" cy="1000125"/>
          </a:xfrm>
        </p:spPr>
        <p:txBody>
          <a:bodyPr/>
          <a:lstStyle/>
          <a:p>
            <a:r>
              <a:rPr lang="en-US" dirty="0"/>
              <a:t>David De Roure</a:t>
            </a:r>
          </a:p>
          <a:p>
            <a:r>
              <a:rPr lang="en-US" dirty="0"/>
              <a:t>Wolfson College, Oxford</a:t>
            </a: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454562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The Ambition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 lnSpcReduction="10000"/>
          </a:bodyPr>
          <a:lstStyle/>
          <a:p>
            <a:r>
              <a:rPr lang="en-GB" dirty="0"/>
              <a:t>Back in the late 1900s I was part of a jazz workshop helping people learn to play jazz.</a:t>
            </a:r>
          </a:p>
          <a:p>
            <a:r>
              <a:rPr lang="en-GB" dirty="0"/>
              <a:t>﻿﻿One of the exercises was called "slick licks" - we would sit in a circle and “trade licks” on our instruments.</a:t>
            </a:r>
          </a:p>
          <a:p>
            <a:r>
              <a:rPr lang="en-GB" dirty="0"/>
              <a:t>A big barrier for jazz learners can be finding people to play with.</a:t>
            </a:r>
          </a:p>
          <a:p>
            <a:r>
              <a:rPr lang="en-GB" dirty="0"/>
              <a:t>﻿﻿Q. Can I build a software system to enable people to practice their slick licks? And specifically… can a bass player use this?!</a:t>
            </a:r>
          </a:p>
          <a:p>
            <a:r>
              <a:rPr lang="en-GB" dirty="0"/>
              <a:t>It should listen and respond, sometimes lead, be realistic enough to be useful. </a:t>
            </a:r>
          </a:p>
          <a:p>
            <a:r>
              <a:rPr lang="en-GB" dirty="0"/>
              <a:t>NB This is like a highly interactive play-along for practice purposes, but it's not intended to replace a human player: human interaction was key to slick licks!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All the things I have been</a:t>
            </a:r>
            <a:r>
              <a:rPr lang="en-US" baseline="30000" dirty="0"/>
              <a:t>*</a:t>
            </a:r>
            <a:r>
              <a:rPr lang="en-US" dirty="0"/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838200" y="1393902"/>
            <a:ext cx="3954966" cy="5126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b="1" dirty="0"/>
              <a:t>Phrase analysis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Question and answer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Leadership &amp; role swapping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Contour steering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Chord conditioning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Harmonic modes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Scale pitch bias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Pitch range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Swing / triplet feel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Live tempo tracking</a:t>
            </a:r>
          </a:p>
          <a:p>
            <a:pPr>
              <a:lnSpc>
                <a:spcPct val="150000"/>
              </a:lnSpc>
            </a:pP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4614747" y="1411068"/>
            <a:ext cx="3954966" cy="4664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b="1" dirty="0"/>
              <a:t>Dynamics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Articulation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Bass pitch-class tracking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Energy arc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Motivic development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Lyrical motif re-use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Voice leading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Modal leap bonus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Stochastic thinning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Phrase breathing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978697" y="1393902"/>
            <a:ext cx="3954966" cy="4622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b="1" dirty="0"/>
              <a:t>Singable duration bias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Rhythmic density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Rhythmic complementarity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Register contrast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Phrase length control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Beat-matching / trading bars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Ostinato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Proactive mode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Arc timing</a:t>
            </a:r>
          </a:p>
          <a:p>
            <a:pPr>
              <a:lnSpc>
                <a:spcPct val="150000"/>
              </a:lnSpc>
            </a:pPr>
            <a:r>
              <a:rPr lang="en-GB" b="1" dirty="0"/>
              <a:t>Phrase-shape dynamics</a:t>
            </a:r>
            <a:endParaRPr 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682083" y="6292820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/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5 minute arc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Sparse</a:t>
            </a:r>
          </a:p>
          <a:p>
            <a:pPr lvl="1"/>
            <a:r>
              <a:rPr lang="en-GB" dirty="0"/>
              <a:t>Open, sustained, establish motifs slowly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Building</a:t>
            </a:r>
          </a:p>
          <a:p>
            <a:pPr lvl="1"/>
            <a:r>
              <a:rPr lang="en-GB" dirty="0"/>
              <a:t>Mixed, lines begin to flow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Peak</a:t>
            </a:r>
          </a:p>
          <a:p>
            <a:pPr lvl="1"/>
            <a:r>
              <a:rPr lang="en-GB" dirty="0"/>
              <a:t>Fast, active, max rhythmic intensity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Recapitulation</a:t>
            </a:r>
          </a:p>
          <a:p>
            <a:pPr lvl="1"/>
            <a:r>
              <a:rPr lang="en-GB" dirty="0"/>
              <a:t>Lyrical return, recall themes with space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Resolution</a:t>
            </a:r>
          </a:p>
          <a:p>
            <a:pPr lvl="1"/>
            <a:r>
              <a:rPr lang="en-GB" dirty="0"/>
              <a:t>Slowest, long tones, fading out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647FFC-DAFE-7E3F-4130-FD88E7EAF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307" y="1170878"/>
            <a:ext cx="4263737" cy="37461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B3EBC4-F166-607D-B1D4-5664B1F69E01}"/>
              </a:ext>
            </a:extLst>
          </p:cNvPr>
          <p:cNvSpPr txBox="1"/>
          <p:nvPr/>
        </p:nvSpPr>
        <p:spPr>
          <a:xfrm>
            <a:off x="7495306" y="5353422"/>
            <a:ext cx="42637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 err="1"/>
              <a:t>wolfson.numbersintonotes.net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4156B-7C53-A98E-A12C-E6740C13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D851-7C60-ACEB-5BC2-3F020AB5E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What’s going on musically?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25AC-6F63-9883-F3FF-5941FD625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is inspired by:</a:t>
            </a:r>
          </a:p>
          <a:p>
            <a:r>
              <a:rPr lang="en-GB" i="1" dirty="0"/>
              <a:t>Post-bop modal-tonal hybrids </a:t>
            </a:r>
            <a:r>
              <a:rPr lang="en-GB" dirty="0"/>
              <a:t>like </a:t>
            </a:r>
            <a:r>
              <a:rPr lang="en-GB" b="1" dirty="0"/>
              <a:t>Milestones</a:t>
            </a:r>
            <a:r>
              <a:rPr lang="en-GB" dirty="0"/>
              <a:t> (Miles Davis), </a:t>
            </a:r>
            <a:r>
              <a:rPr lang="en-GB" b="1" dirty="0"/>
              <a:t>Little Sunflower</a:t>
            </a:r>
            <a:r>
              <a:rPr lang="en-GB" dirty="0"/>
              <a:t> (Freddie Hubbard), </a:t>
            </a:r>
            <a:r>
              <a:rPr lang="en-GB" b="1" dirty="0"/>
              <a:t>Maiden Voyage</a:t>
            </a:r>
            <a:r>
              <a:rPr lang="en-GB" dirty="0"/>
              <a:t> (Herbie Hancock), </a:t>
            </a:r>
            <a:r>
              <a:rPr lang="en-GB" b="1" dirty="0"/>
              <a:t>Footprints</a:t>
            </a:r>
            <a:r>
              <a:rPr lang="en-GB" dirty="0"/>
              <a:t> (Wayne Shorter). These songs are my favourite things*.</a:t>
            </a:r>
          </a:p>
          <a:p>
            <a:r>
              <a:rPr lang="en-GB" dirty="0"/>
              <a:t>A journey through jazz:</a:t>
            </a:r>
          </a:p>
          <a:p>
            <a:pPr lvl="1"/>
            <a:r>
              <a:rPr lang="en-GB" dirty="0"/>
              <a:t>Sparse opening resembles the chromatic freedom of free jazz,</a:t>
            </a:r>
          </a:p>
          <a:p>
            <a:pPr lvl="1"/>
            <a:r>
              <a:rPr lang="en-GB" dirty="0"/>
              <a:t>Modal building stage reflects the Miles/Coltrane modal period,</a:t>
            </a:r>
          </a:p>
          <a:p>
            <a:pPr lvl="1"/>
            <a:r>
              <a:rPr lang="en-GB" dirty="0"/>
              <a:t>Peak progression echoes hard bop,</a:t>
            </a:r>
          </a:p>
          <a:p>
            <a:pPr lvl="1"/>
            <a:r>
              <a:rPr lang="en-GB" dirty="0"/>
              <a:t>Pedal resolution has the meditative quality of late Coltrane.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70B48D-CD4E-B22D-68E4-0BAC398292EB}"/>
              </a:ext>
            </a:extLst>
          </p:cNvPr>
          <p:cNvSpPr txBox="1"/>
          <p:nvPr/>
        </p:nvSpPr>
        <p:spPr>
          <a:xfrm>
            <a:off x="964580" y="5950286"/>
            <a:ext cx="60997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400" dirty="0"/>
              <a:t>* John Coltrane</a:t>
            </a:r>
          </a:p>
        </p:txBody>
      </p:sp>
    </p:spTree>
    <p:extLst>
      <p:ext uri="{BB962C8B-B14F-4D97-AF65-F5344CB8AC3E}">
        <p14:creationId xmlns:p14="http://schemas.microsoft.com/office/powerpoint/2010/main" val="3638156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0862" y="3743623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761879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61879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846690"/>
            <a:ext cx="1889760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846690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16430" y="846690"/>
            <a:ext cx="2291561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77390" y="846690"/>
            <a:ext cx="2197479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73440" y="664343"/>
            <a:ext cx="3413760" cy="1828800"/>
          </a:xfrm>
          <a:prstGeom prst="roundRect">
            <a:avLst>
              <a:gd name="adj" fmla="val 5333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34400" y="706749"/>
            <a:ext cx="329184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839200" y="1030103"/>
            <a:ext cx="2950464" cy="14630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contour, density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type, swing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dynamics, energy profile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motifs,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05528" y="1139298"/>
            <a:ext cx="497224" cy="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389639" y="1999634"/>
            <a:ext cx="2292087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89637" y="1999633"/>
            <a:ext cx="2292087" cy="342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87040" y="2273325"/>
            <a:ext cx="1694688" cy="21945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66160" y="1560191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13688" y="2755535"/>
            <a:ext cx="3291840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4648" y="2842482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940408" y="3198094"/>
            <a:ext cx="2767584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839200" y="2610826"/>
            <a:ext cx="0" cy="82137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912608" y="3432201"/>
            <a:ext cx="926592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head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566160" y="2734336"/>
            <a:ext cx="0" cy="6978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566160" y="3432201"/>
            <a:ext cx="88392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352800" y="4522399"/>
            <a:ext cx="5486400" cy="1489456"/>
          </a:xfrm>
          <a:prstGeom prst="roundRect">
            <a:avLst>
              <a:gd name="adj" fmla="val 800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413760" y="4574896"/>
            <a:ext cx="5364480" cy="31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450336" y="4886419"/>
            <a:ext cx="5291328" cy="8534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&amp; proactive mode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 pitch-class tracking  ·  energy arc selection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 + lyrical motif selection  ·  register contrast scheduling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rhythmic density + complementarity  ·  stage swing baseline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096000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5991749" y="617327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113929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1108553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847152" y="620973"/>
            <a:ext cx="2628677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573266" y="877825"/>
            <a:ext cx="2767053" cy="536448"/>
          </a:xfrm>
          <a:prstGeom prst="roundRect">
            <a:avLst>
              <a:gd name="adj" fmla="val 18182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62232" y="877825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30957" y="1775399"/>
            <a:ext cx="4420393" cy="717212"/>
          </a:xfrm>
          <a:prstGeom prst="roundRect">
            <a:avLst>
              <a:gd name="adj" fmla="val 15385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3188952" y="185862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862951" y="217508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mode, progression, pedal  · 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177272" y="2920754"/>
            <a:ext cx="7559040" cy="2022280"/>
          </a:xfrm>
          <a:prstGeom prst="roundRect">
            <a:avLst>
              <a:gd name="adj" fmla="val 678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38232" y="2989129"/>
            <a:ext cx="74371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 (LSTM)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73118" y="3354889"/>
            <a:ext cx="6565657" cy="107289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+ chord conditioning  ·  pitch range limits + register gravity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swing/triplet bias  ·  energy arc shaping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long-note penalty + singable duration bias  ·  motivic development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leading  ·  modal leap bonus (P4/P5)  ·  repetition penalty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injection  ·  beat accumulator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4533" y="5446620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329" y="5541193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2714" y="5906953"/>
            <a:ext cx="2129359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motifs, recall,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872" y="5436019"/>
            <a:ext cx="3291840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71832" y="5695449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WebAudienceDisplay / OscOutput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95872" y="6222668"/>
            <a:ext cx="2921840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sees full intended phrase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334831" y="2920754"/>
            <a:ext cx="2316480" cy="1288382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391815" y="3110921"/>
            <a:ext cx="2194560" cy="46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thinning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432367" y="3656791"/>
            <a:ext cx="2121408" cy="627889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dropped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stochastically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34831" y="4699726"/>
            <a:ext cx="2316480" cy="998153"/>
          </a:xfrm>
          <a:prstGeom prst="roundRect">
            <a:avLst>
              <a:gd name="adj" fmla="val 17391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9395791" y="4794298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432367" y="5118493"/>
            <a:ext cx="2121408" cy="19507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× peak × 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330061" y="6121942"/>
            <a:ext cx="2316479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330061" y="6121942"/>
            <a:ext cx="2435219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 (sax voice)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956792" y="5186874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808074" y="5043753"/>
            <a:ext cx="1" cy="33554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956792" y="5043754"/>
            <a:ext cx="0" cy="305332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10388467" y="4311169"/>
            <a:ext cx="7600" cy="3233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564B4AF-489C-043B-EABE-47C335D52D83}"/>
              </a:ext>
            </a:extLst>
          </p:cNvPr>
          <p:cNvSpPr/>
          <p:nvPr/>
        </p:nvSpPr>
        <p:spPr>
          <a:xfrm>
            <a:off x="10388468" y="5772088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Shape 31">
            <a:extLst>
              <a:ext uri="{FF2B5EF4-FFF2-40B4-BE49-F238E27FC236}">
                <a16:creationId xmlns:a16="http://schemas.microsoft.com/office/drawing/2014/main" id="{75C8DDBB-FB84-20C6-A810-B200A3A2F6C0}"/>
              </a:ext>
            </a:extLst>
          </p:cNvPr>
          <p:cNvSpPr/>
          <p:nvPr/>
        </p:nvSpPr>
        <p:spPr>
          <a:xfrm>
            <a:off x="4956792" y="1414273"/>
            <a:ext cx="0" cy="31063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956792" y="2561886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28">
            <a:extLst>
              <a:ext uri="{FF2B5EF4-FFF2-40B4-BE49-F238E27FC236}">
                <a16:creationId xmlns:a16="http://schemas.microsoft.com/office/drawing/2014/main" id="{4AF251FC-3F52-BB0D-6527-22ED0889C44F}"/>
              </a:ext>
            </a:extLst>
          </p:cNvPr>
          <p:cNvSpPr/>
          <p:nvPr/>
        </p:nvSpPr>
        <p:spPr>
          <a:xfrm>
            <a:off x="4956792" y="221674"/>
            <a:ext cx="0" cy="504184"/>
          </a:xfrm>
          <a:prstGeom prst="line">
            <a:avLst/>
          </a:prstGeom>
          <a:noFill/>
          <a:ln w="50800">
            <a:solidFill>
              <a:srgbClr val="FFC000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>
            <a:off x="8847152" y="3580314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3249"/>
            <a:ext cx="10515600" cy="5273714"/>
          </a:xfrm>
        </p:spPr>
        <p:txBody>
          <a:bodyPr>
            <a:normAutofit/>
          </a:bodyPr>
          <a:lstStyle/>
          <a:p>
            <a:r>
              <a:rPr lang="en-US" dirty="0"/>
              <a:t>Repo is on </a:t>
            </a:r>
            <a:r>
              <a:rPr lang="en-US" dirty="0">
                <a:hlinkClick r:id="rId3"/>
              </a:rPr>
              <a:t>github.com/davidderoure/wolfson</a:t>
            </a:r>
            <a:r>
              <a:rPr lang="en-US" dirty="0"/>
              <a:t>  </a:t>
            </a:r>
          </a:p>
          <a:p>
            <a:endParaRPr lang="en-US" dirty="0"/>
          </a:p>
          <a:p>
            <a:r>
              <a:rPr lang="en-US" dirty="0"/>
              <a:t>Acknowledgements:</a:t>
            </a:r>
          </a:p>
          <a:p>
            <a:pPr lvl="1"/>
            <a:r>
              <a:rPr lang="en-US" dirty="0"/>
              <a:t>Ray </a:t>
            </a:r>
            <a:r>
              <a:rPr lang="en-US" dirty="0" err="1"/>
              <a:t>d’Inverno</a:t>
            </a:r>
            <a:r>
              <a:rPr lang="en-US" dirty="0"/>
              <a:t> (for jazz, Lisp, AI, slick licks)</a:t>
            </a:r>
          </a:p>
          <a:p>
            <a:pPr lvl="1"/>
            <a:r>
              <a:rPr lang="en-US" dirty="0"/>
              <a:t>Mark </a:t>
            </a:r>
            <a:r>
              <a:rPr lang="en-US" dirty="0" err="1"/>
              <a:t>d’Inverno</a:t>
            </a:r>
            <a:r>
              <a:rPr lang="en-US" dirty="0"/>
              <a:t> (for jazz, AI, creativity, slick licks)</a:t>
            </a:r>
          </a:p>
          <a:p>
            <a:pPr lvl="1"/>
            <a:r>
              <a:rPr lang="en-US" dirty="0"/>
              <a:t>George E Lewis (for Voyager and Forager)</a:t>
            </a:r>
          </a:p>
          <a:p>
            <a:pPr lvl="1"/>
            <a:r>
              <a:rPr lang="en-US" dirty="0"/>
              <a:t>Robert Laidlow (for Alter-</a:t>
            </a:r>
            <a:r>
              <a:rPr lang="en-US" dirty="0" err="1"/>
              <a:t>ing</a:t>
            </a:r>
            <a:r>
              <a:rPr lang="en-US" dirty="0"/>
              <a:t> Ada Lovelace, and sax)</a:t>
            </a:r>
          </a:p>
          <a:p>
            <a:pPr lvl="1"/>
            <a:r>
              <a:rPr lang="en-US" dirty="0" err="1"/>
              <a:t>Hongshuo</a:t>
            </a:r>
            <a:r>
              <a:rPr lang="en-US" dirty="0"/>
              <a:t> Fan (for Music Gesture Recognition)</a:t>
            </a:r>
          </a:p>
          <a:p>
            <a:pPr lvl="1"/>
            <a:r>
              <a:rPr lang="en-US" dirty="0" err="1"/>
              <a:t>Bofan</a:t>
            </a:r>
            <a:r>
              <a:rPr lang="en-US" dirty="0"/>
              <a:t> Ma (for always enabling musicality)</a:t>
            </a:r>
          </a:p>
          <a:p>
            <a:pPr lvl="1"/>
            <a:r>
              <a:rPr lang="en-US" dirty="0"/>
              <a:t>Wolfson Digital Research Cluster (for AIMC 2024)</a:t>
            </a:r>
          </a:p>
          <a:p>
            <a:pPr lvl="1"/>
            <a:endParaRPr lang="en-US" dirty="0"/>
          </a:p>
          <a:p>
            <a:pPr lvl="0"/>
            <a:r>
              <a:rPr lang="en-US" sz="2400" i="1" dirty="0"/>
              <a:t>Grand Challenges for Computing Research</a:t>
            </a:r>
            <a:r>
              <a:rPr lang="en-US" sz="2400" dirty="0"/>
              <a:t> – Tony Hoare</a:t>
            </a:r>
          </a:p>
          <a:p>
            <a:endParaRPr lang="en-US" sz="2400" dirty="0"/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357036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360353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4199186"/>
            <a:ext cx="1535643" cy="8676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3277793"/>
            <a:ext cx="1571393" cy="797978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8258" y="746853"/>
            <a:ext cx="233172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Potential limitations of the chosen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Time feel might be mechanical – lack of </a:t>
            </a:r>
            <a:r>
              <a:rPr lang="en-GB" dirty="0" err="1"/>
              <a:t>microtiming</a:t>
            </a:r>
            <a:r>
              <a:rPr lang="en-GB" dirty="0"/>
              <a:t> which is crucial to jazz</a:t>
            </a:r>
          </a:p>
          <a:p>
            <a:r>
              <a:rPr lang="en-GB" dirty="0"/>
              <a:t>Conversation might be too polite, with strict turn-taking</a:t>
            </a:r>
          </a:p>
          <a:p>
            <a:r>
              <a:rPr lang="en-GB" dirty="0"/>
              <a:t>No personal voice – it’s generalised be-bop</a:t>
            </a:r>
          </a:p>
          <a:p>
            <a:r>
              <a:rPr lang="en-GB" dirty="0"/>
              <a:t>Arc is clock-driven, not music-driven</a:t>
            </a:r>
          </a:p>
          <a:p>
            <a:r>
              <a:rPr lang="en-GB" dirty="0"/>
              <a:t>Motivic development might feel like repetition – because it is</a:t>
            </a:r>
          </a:p>
          <a:p>
            <a:r>
              <a:rPr lang="en-GB" dirty="0"/>
              <a:t>It uses MIDI, so perhaps it inevitably sounds like a very good MIDI file and there’ll be a lack of expression/articulation</a:t>
            </a:r>
          </a:p>
          <a:p>
            <a:r>
              <a:rPr lang="en-GB" dirty="0"/>
              <a:t>The audience might feel it would be better musically if it used a chord progression – but the whole point is that it doesn’t, it’s responsive. There are plenty of play along programs out there.</a:t>
            </a:r>
          </a:p>
          <a:p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2109</TotalTime>
  <Words>767</Words>
  <Application>Microsoft Macintosh PowerPoint</Application>
  <PresentationFormat>Widescreen</PresentationFormat>
  <Paragraphs>135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1_Office Theme</vt:lpstr>
      <vt:lpstr>Slick Licks</vt:lpstr>
      <vt:lpstr>The Ambition</vt:lpstr>
      <vt:lpstr>All the things I have been* thinking about </vt:lpstr>
      <vt:lpstr>5 minute arc</vt:lpstr>
      <vt:lpstr>What’s going on musically?</vt:lpstr>
      <vt:lpstr>PowerPoint Presentation</vt:lpstr>
      <vt:lpstr>PowerPoint Presentation</vt:lpstr>
      <vt:lpstr>PowerPoint Presentation</vt:lpstr>
      <vt:lpstr>Potential limitations of the chosen approach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17</cp:revision>
  <dcterms:created xsi:type="dcterms:W3CDTF">2026-03-31T17:42:52Z</dcterms:created>
  <dcterms:modified xsi:type="dcterms:W3CDTF">2026-04-02T05:02:02Z</dcterms:modified>
</cp:coreProperties>
</file>