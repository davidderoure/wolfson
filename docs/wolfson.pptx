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notesMasterIdLst>
    <p:notesMasterId r:id="rId11"/>
  </p:notesMasterIdLst>
  <p:sldIdLst>
    <p:sldId id="256" r:id="rId3"/>
    <p:sldId id="257" r:id="rId4"/>
    <p:sldId id="259" r:id="rId5"/>
    <p:sldId id="258" r:id="rId6"/>
    <p:sldId id="262" r:id="rId7"/>
    <p:sldId id="263" r:id="rId8"/>
    <p:sldId id="260" r:id="rId9"/>
    <p:sldId id="261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4"/>
    <p:restoredTop sz="94660"/>
  </p:normalViewPr>
  <p:slideViewPr>
    <p:cSldViewPr snapToGrid="0">
      <p:cViewPr varScale="1">
        <p:scale>
          <a:sx n="93" d="100"/>
          <a:sy n="93" d="100"/>
        </p:scale>
        <p:origin x="208" y="65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15" Type="http://schemas.openxmlformats.org/officeDocument/2006/relationships/tableStyles" Target="tableStyle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323DB7-7F8E-0241-8824-58FDBBD2EE98}" type="datetimeFigureOut">
              <a:rPr lang="en-US" smtClean="0"/>
              <a:t>3/31/26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125BD8-DB9E-B04B-ACC5-175F26D74A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358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56401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7654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4284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30078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95731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125BD8-DB9E-B04B-ACC5-175F26D74AA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12321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7981FB-0BB1-B7BD-36AC-4E6C823F6C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3AC6F3-73BB-1EF1-27B3-BA6857F5DE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6DB308-FCA4-CF56-117A-C49759D51B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30ECCF-F897-92F3-6136-A8CACD5A1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03F27F-808E-B281-6F32-E5BECA43F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7182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78ECBC-8E90-CEE0-2CBA-2D0FAD6DD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E00E35-DBB3-0BE1-D399-61AB5B131E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3CBF18-8D7A-AC84-858B-54892D1791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31A0CA-1388-0822-6C60-74B3558738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EB9B6-8013-EA21-B4B5-DD54B2E9DA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4991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404A8C-6C8D-D97B-1B33-1FF4DA085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C4624D-4B1F-2831-F78F-6E7D77DC5D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0EAB85-A2D9-0B04-95FF-957A6EBF5A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F38157-9E12-7604-4108-BFC8DFDA72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12CA78-0063-B681-83A9-91E792713F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12268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7A8F4-9896-E1B3-FB85-B406480551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EAA1B1-ABB1-1FE7-7E24-99552756FC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E8B9EA-0804-3557-A8DB-E7AD2CE4A1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D3C1BE-522D-AB35-135F-8B0B9A944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3/31/26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1406F8-8D5F-DED1-0FD4-FAF9358C6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7E894C-4995-85C8-072A-F9190A714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5328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127DCD-E703-A4C2-BB9F-88521C4E7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96A6F1-D94A-2C1E-127D-C78F97869B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F5B5D3-8A32-B4DA-C96B-7FE8EDDE9F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9E48F5-E3C1-76F3-65DD-E326BD72A6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5C9CF7-2E2F-3EF7-41C2-1A8C107579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553520B-FD72-F4D6-9E33-4FF46F291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3/31/26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4B5B32-DE0A-3D8C-EC8F-39F70FB70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E9FC483-DCC9-0190-0C41-A87C115A23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05248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23715-9280-DC7D-BFFC-38D935D140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D16A1E6-6F8C-88B9-E5E9-CAC2640DA6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3/31/26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F98206-BD80-AFC6-317B-DCC4F76D32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17FDF83-D75B-F0BF-6EA3-A2E6A430E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60360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503684D-5101-297D-6104-2CA96ED6D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3/31/26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4B0C6F-DBE9-DCC4-82A1-E90151F2FD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5563AD-8718-3752-6D33-5E9B1CE93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7108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3D29B1-01C2-3C9C-1EB4-01EC9AFC59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78B5AA-E136-AFA0-C213-F3DD160E51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0D49B9-75FF-1DF4-2319-656E49DF86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FD1598-6AE0-69B4-EC4A-9714727DC8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3/31/26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41E574-6DCC-8C0B-1253-30D61C781F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AB22A3-CB57-9361-4281-C0166BF16A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93676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02AF0-389D-7A88-214E-C1D9BA1B6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98A3311-D059-C611-3043-74DEDF8A4D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E41F16-48E3-3C09-EF4C-99A2C42028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B009EA-467A-CA07-EBE6-583E57258A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3/31/26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A19962-79FF-0B91-5926-FEE54B8189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796FCE-F7BE-208E-2645-ED3D144F73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39893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F73679-01F5-A072-965A-1C7D8EDAB0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B028CF3-B43F-BDD4-12B9-26BB639932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DB9A48-EF43-15DB-AE16-2F0BF37D83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80C31C-25EC-E3AE-67A7-FDF12AD57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F25424-C63C-6DB5-B5C5-30A301295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5795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DC2B524-8DE1-7862-6EA3-63EB21599D0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FAA6484-BB7C-B3C9-FF39-B4B93B3059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7100C5-819F-506B-D214-4F18D9643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887482-337B-0C49-8B44-90FE2531483D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7C3F89-DB8D-DB23-BE25-F2AAA93622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E85C5E-582A-1A04-F0A3-16FAA6672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0705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185778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FDDAD6C-AB43-3429-CC77-7587D8D8E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BE734B-9CFC-2B6E-2322-2E18DBF53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13B226-8340-6F9D-550B-144E7218532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887482-337B-0C49-8B44-90FE2531483D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0C7BA1-8F87-1B71-B4FF-3630536310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F5E4E7-9EEE-A3FA-E13B-8B82229647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E3B367-EFD8-7E46-8D2C-B33701C7C6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84365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987932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hyperlink" Target="https://github.com/davidderoure/wolfson" TargetMode="External"/><Relationship Id="rId7" Type="http://schemas.openxmlformats.org/officeDocument/2006/relationships/image" Target="../media/image6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F8A699-8710-D357-00D5-77458DA818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286300"/>
          </a:xfrm>
        </p:spPr>
        <p:txBody>
          <a:bodyPr/>
          <a:lstStyle/>
          <a:p>
            <a:r>
              <a:rPr lang="en-US" dirty="0"/>
              <a:t>Slick Licks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E8886A-E50C-161E-3C72-36B38A6E4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101975"/>
            <a:ext cx="9144000" cy="1000125"/>
          </a:xfrm>
        </p:spPr>
        <p:txBody>
          <a:bodyPr/>
          <a:lstStyle/>
          <a:p>
            <a:r>
              <a:rPr lang="en-US" dirty="0"/>
              <a:t>David De Roure</a:t>
            </a:r>
          </a:p>
          <a:p>
            <a:r>
              <a:rPr lang="en-US" dirty="0"/>
              <a:t>Wolfson College, Oxford</a:t>
            </a:r>
          </a:p>
        </p:txBody>
      </p:sp>
      <p:pic>
        <p:nvPicPr>
          <p:cNvPr id="5" name="Picture 4" descr="Home - Wolfson College">
            <a:extLst>
              <a:ext uri="{FF2B5EF4-FFF2-40B4-BE49-F238E27FC236}">
                <a16:creationId xmlns:a16="http://schemas.microsoft.com/office/drawing/2014/main" id="{A7C82090-5E62-E1A6-E4B4-C8D4DACEC1D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1606" y="4545629"/>
            <a:ext cx="1668788" cy="16687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57146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CC88F-AE6F-DB2A-FA04-F7000EBF6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5753"/>
          </a:xfrm>
        </p:spPr>
        <p:txBody>
          <a:bodyPr/>
          <a:lstStyle/>
          <a:p>
            <a:r>
              <a:rPr lang="en-US" dirty="0"/>
              <a:t>The Ambition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9520F-7551-5696-EDB0-7C99BDEC23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3902"/>
            <a:ext cx="10078844" cy="5018049"/>
          </a:xfrm>
        </p:spPr>
        <p:txBody>
          <a:bodyPr>
            <a:normAutofit lnSpcReduction="10000"/>
          </a:bodyPr>
          <a:lstStyle/>
          <a:p>
            <a:r>
              <a:rPr lang="en-GB" dirty="0"/>
              <a:t>Back in the late 1900s I was part of a jazz workshop helping people learn to play jazz.</a:t>
            </a:r>
          </a:p>
          <a:p>
            <a:r>
              <a:rPr lang="en-GB" dirty="0"/>
              <a:t>﻿﻿One of the exercises was called "slick licks" - we would sit in a circle and “trade licks” on our instruments.</a:t>
            </a:r>
          </a:p>
          <a:p>
            <a:r>
              <a:rPr lang="en-GB" dirty="0"/>
              <a:t>A big barrier for jazz learners can be finding people to play with.</a:t>
            </a:r>
          </a:p>
          <a:p>
            <a:r>
              <a:rPr lang="en-GB" dirty="0"/>
              <a:t>﻿﻿Q. Can I build a software system to enable people to practice their slick licks? And specifically… can a bass player use this?!</a:t>
            </a:r>
          </a:p>
          <a:p>
            <a:r>
              <a:rPr lang="en-GB" dirty="0"/>
              <a:t>It should listen and respond, sometimes lead, be realistic enough to be useful. </a:t>
            </a:r>
          </a:p>
          <a:p>
            <a:r>
              <a:rPr lang="en-GB" dirty="0"/>
              <a:t>NB This is like a highly interactive play-along for practice purposes, but it's not intended to replace a human player: human interaction was key to slick licks!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78240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1ABF3-8A46-2D39-4B69-7D6539198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0F8CE5-E8E0-C4B1-5023-E87C6B69A9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5753"/>
          </a:xfrm>
        </p:spPr>
        <p:txBody>
          <a:bodyPr/>
          <a:lstStyle/>
          <a:p>
            <a:r>
              <a:rPr lang="en-US" dirty="0"/>
              <a:t>All the things I have been</a:t>
            </a:r>
            <a:r>
              <a:rPr lang="en-US" baseline="30000" dirty="0"/>
              <a:t>*</a:t>
            </a:r>
            <a:r>
              <a:rPr lang="en-US" dirty="0"/>
              <a:t> thinking about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CBAA6F-DAF5-13CA-340F-769114251D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3902"/>
            <a:ext cx="10515600" cy="4783061"/>
          </a:xfrm>
        </p:spPr>
        <p:txBody>
          <a:bodyPr>
            <a:normAutofit/>
          </a:bodyPr>
          <a:lstStyle/>
          <a:p>
            <a:endParaRPr lang="en-GB" dirty="0"/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DBFBBEE-44A6-7FC5-BA96-97C3F7AD7DA8}"/>
              </a:ext>
            </a:extLst>
          </p:cNvPr>
          <p:cNvSpPr txBox="1"/>
          <p:nvPr/>
        </p:nvSpPr>
        <p:spPr>
          <a:xfrm>
            <a:off x="838200" y="1393902"/>
            <a:ext cx="3954966" cy="5126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000" b="1" dirty="0"/>
              <a:t>Phrase analysis</a:t>
            </a:r>
          </a:p>
          <a:p>
            <a:pPr>
              <a:lnSpc>
                <a:spcPct val="150000"/>
              </a:lnSpc>
            </a:pPr>
            <a:r>
              <a:rPr lang="en-GB" sz="2000" b="1" dirty="0"/>
              <a:t>Question and answer</a:t>
            </a:r>
          </a:p>
          <a:p>
            <a:pPr>
              <a:lnSpc>
                <a:spcPct val="150000"/>
              </a:lnSpc>
            </a:pPr>
            <a:r>
              <a:rPr lang="en-GB" sz="2000" b="1" dirty="0"/>
              <a:t>Leadership &amp; role swapping</a:t>
            </a:r>
          </a:p>
          <a:p>
            <a:pPr>
              <a:lnSpc>
                <a:spcPct val="150000"/>
              </a:lnSpc>
            </a:pPr>
            <a:r>
              <a:rPr lang="en-GB" sz="2000" b="1" dirty="0"/>
              <a:t>Contour steering</a:t>
            </a:r>
            <a:r>
              <a:rPr lang="en-GB" sz="2000" dirty="0"/>
              <a:t> </a:t>
            </a:r>
          </a:p>
          <a:p>
            <a:pPr>
              <a:lnSpc>
                <a:spcPct val="150000"/>
              </a:lnSpc>
            </a:pPr>
            <a:r>
              <a:rPr lang="en-GB" sz="2000" b="1" dirty="0"/>
              <a:t>Chord conditioning</a:t>
            </a:r>
            <a:r>
              <a:rPr lang="en-GB" sz="2000" dirty="0"/>
              <a:t> </a:t>
            </a:r>
          </a:p>
          <a:p>
            <a:pPr>
              <a:lnSpc>
                <a:spcPct val="150000"/>
              </a:lnSpc>
            </a:pPr>
            <a:r>
              <a:rPr lang="en-GB" sz="2000" b="1" dirty="0"/>
              <a:t>Harmonic modes</a:t>
            </a:r>
            <a:r>
              <a:rPr lang="en-GB" sz="2000" dirty="0"/>
              <a:t> </a:t>
            </a:r>
          </a:p>
          <a:p>
            <a:pPr>
              <a:lnSpc>
                <a:spcPct val="150000"/>
              </a:lnSpc>
            </a:pPr>
            <a:r>
              <a:rPr lang="en-GB" sz="2000" b="1" dirty="0"/>
              <a:t>Scale pitch bias</a:t>
            </a:r>
          </a:p>
          <a:p>
            <a:pPr>
              <a:lnSpc>
                <a:spcPct val="150000"/>
              </a:lnSpc>
            </a:pPr>
            <a:r>
              <a:rPr lang="en-GB" sz="2000" b="1" dirty="0"/>
              <a:t>Pitch range</a:t>
            </a:r>
          </a:p>
          <a:p>
            <a:pPr>
              <a:lnSpc>
                <a:spcPct val="150000"/>
              </a:lnSpc>
            </a:pPr>
            <a:r>
              <a:rPr lang="en-GB" sz="2000" b="1" dirty="0"/>
              <a:t>Swing / triplet feel</a:t>
            </a:r>
          </a:p>
          <a:p>
            <a:pPr>
              <a:lnSpc>
                <a:spcPct val="150000"/>
              </a:lnSpc>
            </a:pPr>
            <a:r>
              <a:rPr lang="en-GB" sz="2000" b="1" dirty="0"/>
              <a:t>Live tempo tracking</a:t>
            </a:r>
          </a:p>
          <a:p>
            <a:pPr>
              <a:lnSpc>
                <a:spcPct val="150000"/>
              </a:lnSpc>
            </a:pPr>
            <a:endParaRPr lang="en-US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B96428-37ED-DE63-E2D0-FD373F93A297}"/>
              </a:ext>
            </a:extLst>
          </p:cNvPr>
          <p:cNvSpPr txBox="1"/>
          <p:nvPr/>
        </p:nvSpPr>
        <p:spPr>
          <a:xfrm>
            <a:off x="4614747" y="1411068"/>
            <a:ext cx="3954966" cy="4664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000" b="1" dirty="0"/>
              <a:t>Dynamics</a:t>
            </a:r>
          </a:p>
          <a:p>
            <a:pPr>
              <a:lnSpc>
                <a:spcPct val="150000"/>
              </a:lnSpc>
            </a:pPr>
            <a:r>
              <a:rPr lang="en-GB" sz="2000" b="1" dirty="0"/>
              <a:t>Articulation</a:t>
            </a:r>
          </a:p>
          <a:p>
            <a:pPr>
              <a:lnSpc>
                <a:spcPct val="150000"/>
              </a:lnSpc>
            </a:pPr>
            <a:r>
              <a:rPr lang="en-GB" sz="2000" b="1" dirty="0"/>
              <a:t>Bass pitch-class tracking</a:t>
            </a:r>
          </a:p>
          <a:p>
            <a:pPr>
              <a:lnSpc>
                <a:spcPct val="150000"/>
              </a:lnSpc>
            </a:pPr>
            <a:r>
              <a:rPr lang="en-GB" sz="2000" b="1" dirty="0"/>
              <a:t>Energy arc</a:t>
            </a:r>
          </a:p>
          <a:p>
            <a:pPr>
              <a:lnSpc>
                <a:spcPct val="150000"/>
              </a:lnSpc>
            </a:pPr>
            <a:r>
              <a:rPr lang="en-GB" sz="2000" b="1" dirty="0"/>
              <a:t>Motivic development</a:t>
            </a:r>
          </a:p>
          <a:p>
            <a:pPr>
              <a:lnSpc>
                <a:spcPct val="150000"/>
              </a:lnSpc>
            </a:pPr>
            <a:r>
              <a:rPr lang="en-GB" sz="2000" b="1" dirty="0"/>
              <a:t>Lyrical motif re-use</a:t>
            </a:r>
            <a:r>
              <a:rPr lang="en-GB" sz="2000" dirty="0"/>
              <a:t> </a:t>
            </a:r>
          </a:p>
          <a:p>
            <a:pPr>
              <a:lnSpc>
                <a:spcPct val="150000"/>
              </a:lnSpc>
            </a:pPr>
            <a:r>
              <a:rPr lang="en-GB" sz="2000" b="1" dirty="0"/>
              <a:t>Voice leading</a:t>
            </a:r>
          </a:p>
          <a:p>
            <a:pPr>
              <a:lnSpc>
                <a:spcPct val="150000"/>
              </a:lnSpc>
            </a:pPr>
            <a:r>
              <a:rPr lang="en-GB" sz="2000" b="1" dirty="0"/>
              <a:t>Modal leap bonus</a:t>
            </a:r>
            <a:r>
              <a:rPr lang="en-GB" sz="2000" dirty="0"/>
              <a:t> </a:t>
            </a:r>
          </a:p>
          <a:p>
            <a:pPr>
              <a:lnSpc>
                <a:spcPct val="150000"/>
              </a:lnSpc>
            </a:pPr>
            <a:r>
              <a:rPr lang="en-GB" sz="2000" b="1" dirty="0"/>
              <a:t>Stochastic thinning</a:t>
            </a:r>
            <a:r>
              <a:rPr lang="en-GB" sz="2000" dirty="0"/>
              <a:t> </a:t>
            </a:r>
          </a:p>
          <a:p>
            <a:pPr>
              <a:lnSpc>
                <a:spcPct val="150000"/>
              </a:lnSpc>
            </a:pPr>
            <a:r>
              <a:rPr lang="en-GB" sz="2000" b="1" dirty="0"/>
              <a:t>Phrase breathing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B9EEF0-8FF6-3D2F-92C2-1A7DED7D44B1}"/>
              </a:ext>
            </a:extLst>
          </p:cNvPr>
          <p:cNvSpPr txBox="1"/>
          <p:nvPr/>
        </p:nvSpPr>
        <p:spPr>
          <a:xfrm>
            <a:off x="7978697" y="1393902"/>
            <a:ext cx="3954966" cy="4622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GB" sz="2000" b="1" dirty="0"/>
              <a:t>Singable duration bias</a:t>
            </a:r>
          </a:p>
          <a:p>
            <a:pPr>
              <a:lnSpc>
                <a:spcPct val="150000"/>
              </a:lnSpc>
            </a:pPr>
            <a:r>
              <a:rPr lang="en-GB" sz="2000" b="1" dirty="0"/>
              <a:t>Rhythmic density</a:t>
            </a:r>
            <a:r>
              <a:rPr lang="en-GB" sz="2000" dirty="0"/>
              <a:t> </a:t>
            </a:r>
          </a:p>
          <a:p>
            <a:pPr>
              <a:lnSpc>
                <a:spcPct val="150000"/>
              </a:lnSpc>
            </a:pPr>
            <a:r>
              <a:rPr lang="en-GB" sz="2000" b="1" dirty="0"/>
              <a:t>Rhythmic complementarity</a:t>
            </a:r>
          </a:p>
          <a:p>
            <a:pPr>
              <a:lnSpc>
                <a:spcPct val="150000"/>
              </a:lnSpc>
            </a:pPr>
            <a:r>
              <a:rPr lang="en-GB" sz="2000" b="1" dirty="0"/>
              <a:t>Register contrast</a:t>
            </a:r>
            <a:r>
              <a:rPr lang="en-GB" sz="2000" dirty="0"/>
              <a:t> </a:t>
            </a:r>
          </a:p>
          <a:p>
            <a:pPr>
              <a:lnSpc>
                <a:spcPct val="150000"/>
              </a:lnSpc>
            </a:pPr>
            <a:r>
              <a:rPr lang="en-GB" sz="2000" b="1" dirty="0"/>
              <a:t>Phrase length control</a:t>
            </a:r>
          </a:p>
          <a:p>
            <a:pPr>
              <a:lnSpc>
                <a:spcPct val="150000"/>
              </a:lnSpc>
            </a:pPr>
            <a:r>
              <a:rPr lang="en-GB" sz="2000" b="1" dirty="0"/>
              <a:t>Beat-matching / trading bars</a:t>
            </a:r>
            <a:r>
              <a:rPr lang="en-GB" sz="2000" dirty="0"/>
              <a:t> </a:t>
            </a:r>
          </a:p>
          <a:p>
            <a:pPr>
              <a:lnSpc>
                <a:spcPct val="150000"/>
              </a:lnSpc>
            </a:pPr>
            <a:r>
              <a:rPr lang="en-GB" sz="2000" b="1" dirty="0"/>
              <a:t>Ostinato</a:t>
            </a:r>
          </a:p>
          <a:p>
            <a:pPr>
              <a:lnSpc>
                <a:spcPct val="150000"/>
              </a:lnSpc>
            </a:pPr>
            <a:r>
              <a:rPr lang="en-GB" sz="2000" b="1" dirty="0"/>
              <a:t>Proactive mode</a:t>
            </a:r>
            <a:r>
              <a:rPr lang="en-GB" sz="2000" dirty="0"/>
              <a:t> </a:t>
            </a:r>
          </a:p>
          <a:p>
            <a:pPr>
              <a:lnSpc>
                <a:spcPct val="150000"/>
              </a:lnSpc>
            </a:pPr>
            <a:r>
              <a:rPr lang="en-GB" sz="2000" b="1" dirty="0"/>
              <a:t>Arc timing</a:t>
            </a:r>
          </a:p>
          <a:p>
            <a:pPr>
              <a:lnSpc>
                <a:spcPct val="150000"/>
              </a:lnSpc>
            </a:pPr>
            <a:r>
              <a:rPr lang="en-GB" b="1" dirty="0"/>
              <a:t>Phrase-shape dynamics</a:t>
            </a:r>
            <a:endParaRPr lang="en-US" sz="2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C8A5D39-3627-CFE9-597E-D3C8505EA7A7}"/>
              </a:ext>
            </a:extLst>
          </p:cNvPr>
          <p:cNvSpPr txBox="1"/>
          <p:nvPr/>
        </p:nvSpPr>
        <p:spPr>
          <a:xfrm>
            <a:off x="682083" y="6292820"/>
            <a:ext cx="33639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i="1" dirty="0"/>
              <a:t>* Good name for a song?</a:t>
            </a:r>
          </a:p>
        </p:txBody>
      </p:sp>
    </p:spTree>
    <p:extLst>
      <p:ext uri="{BB962C8B-B14F-4D97-AF65-F5344CB8AC3E}">
        <p14:creationId xmlns:p14="http://schemas.microsoft.com/office/powerpoint/2010/main" val="12914643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D6E05-FA9B-095E-4E7D-E2C69EEF3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F58DA-C53E-E2A4-D95F-B35F61C1B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5753"/>
          </a:xfrm>
        </p:spPr>
        <p:txBody>
          <a:bodyPr/>
          <a:lstStyle/>
          <a:p>
            <a:r>
              <a:rPr lang="en-US" dirty="0"/>
              <a:t>5 minute arc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1B6C1C-8CCE-241D-FE04-37A75C51FD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3902"/>
            <a:ext cx="10515600" cy="4783061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GB" dirty="0"/>
              <a:t>Sparse</a:t>
            </a:r>
          </a:p>
          <a:p>
            <a:pPr lvl="1"/>
            <a:r>
              <a:rPr lang="en-GB" dirty="0"/>
              <a:t>Open, sustained, establish motifs slowly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Building</a:t>
            </a:r>
          </a:p>
          <a:p>
            <a:pPr lvl="1"/>
            <a:r>
              <a:rPr lang="en-GB" dirty="0"/>
              <a:t>Mixed, lines begin to flow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Peak</a:t>
            </a:r>
          </a:p>
          <a:p>
            <a:pPr lvl="1"/>
            <a:r>
              <a:rPr lang="en-GB" dirty="0"/>
              <a:t>Fast, active, max rhythmic intensity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Recapitulation</a:t>
            </a:r>
          </a:p>
          <a:p>
            <a:pPr lvl="1"/>
            <a:r>
              <a:rPr lang="en-GB" dirty="0"/>
              <a:t>Lyrical return, recall themes with space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Resolution</a:t>
            </a:r>
          </a:p>
          <a:p>
            <a:pPr lvl="1"/>
            <a:r>
              <a:rPr lang="en-GB" dirty="0"/>
              <a:t>Slowest, long tones, fading out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2647FFC-DAFE-7E3F-4130-FD88E7EAFE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5307" y="1170878"/>
            <a:ext cx="4263737" cy="374612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AB3EBC4-F166-607D-B1D4-5664B1F69E01}"/>
              </a:ext>
            </a:extLst>
          </p:cNvPr>
          <p:cNvSpPr txBox="1"/>
          <p:nvPr/>
        </p:nvSpPr>
        <p:spPr>
          <a:xfrm>
            <a:off x="7495306" y="5353422"/>
            <a:ext cx="4263737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b="1" dirty="0" err="1"/>
              <a:t>wolfson.numbersintonotes.net</a:t>
            </a:r>
            <a:endParaRPr lang="en-US" sz="2200" b="1" dirty="0"/>
          </a:p>
        </p:txBody>
      </p:sp>
    </p:spTree>
    <p:extLst>
      <p:ext uri="{BB962C8B-B14F-4D97-AF65-F5344CB8AC3E}">
        <p14:creationId xmlns:p14="http://schemas.microsoft.com/office/powerpoint/2010/main" val="20815218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B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00862" y="3743623"/>
            <a:ext cx="2264263" cy="1662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Pipeline</a:t>
            </a:r>
            <a:endParaRPr lang="en-US" sz="40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365760" y="761879"/>
            <a:ext cx="1889760" cy="755904"/>
          </a:xfrm>
          <a:prstGeom prst="roundRect">
            <a:avLst>
              <a:gd name="adj" fmla="val 16667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Text 3"/>
          <p:cNvSpPr/>
          <p:nvPr/>
        </p:nvSpPr>
        <p:spPr>
          <a:xfrm>
            <a:off x="365760" y="761879"/>
            <a:ext cx="1889760" cy="667900"/>
          </a:xfrm>
          <a:prstGeom prst="rect">
            <a:avLst/>
          </a:prstGeom>
          <a:noFill/>
          <a:ln/>
        </p:spPr>
        <p:txBody>
          <a:bodyPr wrap="square" lIns="67733" tIns="67733" rIns="67733" bIns="67733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Bass</a:t>
            </a:r>
            <a:b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(pitch-to-MIDI)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Shape 4"/>
          <p:cNvSpPr/>
          <p:nvPr/>
        </p:nvSpPr>
        <p:spPr>
          <a:xfrm>
            <a:off x="2865125" y="846690"/>
            <a:ext cx="1889760" cy="585216"/>
          </a:xfrm>
          <a:prstGeom prst="roundRect">
            <a:avLst>
              <a:gd name="adj" fmla="val 16667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5"/>
          <p:cNvSpPr/>
          <p:nvPr/>
        </p:nvSpPr>
        <p:spPr>
          <a:xfrm>
            <a:off x="2865125" y="846690"/>
            <a:ext cx="1889760" cy="585216"/>
          </a:xfrm>
          <a:prstGeom prst="rect">
            <a:avLst/>
          </a:prstGeom>
          <a:noFill/>
          <a:ln/>
        </p:spPr>
        <p:txBody>
          <a:bodyPr wrap="square" lIns="67733" tIns="67733" rIns="67733" bIns="67733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MidiListener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416430" y="846690"/>
            <a:ext cx="2291561" cy="585216"/>
          </a:xfrm>
          <a:prstGeom prst="roundRect">
            <a:avLst>
              <a:gd name="adj" fmla="val 16667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Text 7"/>
          <p:cNvSpPr/>
          <p:nvPr/>
        </p:nvSpPr>
        <p:spPr>
          <a:xfrm>
            <a:off x="5477390" y="846690"/>
            <a:ext cx="2197479" cy="585216"/>
          </a:xfrm>
          <a:prstGeom prst="rect">
            <a:avLst/>
          </a:prstGeom>
          <a:noFill/>
          <a:ln/>
        </p:spPr>
        <p:txBody>
          <a:bodyPr wrap="square" lIns="67733" tIns="67733" rIns="67733" bIns="67733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PhraseDetector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8473440" y="664343"/>
            <a:ext cx="3413760" cy="1828800"/>
          </a:xfrm>
          <a:prstGeom prst="roundRect">
            <a:avLst>
              <a:gd name="adj" fmla="val 5333"/>
            </a:avLst>
          </a:prstGeom>
          <a:solidFill>
            <a:srgbClr val="253880"/>
          </a:solidFill>
          <a:ln w="2540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9"/>
          <p:cNvSpPr/>
          <p:nvPr/>
        </p:nvSpPr>
        <p:spPr>
          <a:xfrm>
            <a:off x="8534400" y="706749"/>
            <a:ext cx="329184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PhraseAnalyzer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8839200" y="1030103"/>
            <a:ext cx="2950464" cy="1463040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contour, density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Q&amp;A type, swing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dynamics, energy profile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classes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 motifs, lyrical motifs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7805528" y="1139298"/>
            <a:ext cx="497224" cy="1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2389639" y="1999634"/>
            <a:ext cx="2292087" cy="585216"/>
          </a:xfrm>
          <a:prstGeom prst="roundRect">
            <a:avLst>
              <a:gd name="adj" fmla="val 16667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2389637" y="1999633"/>
            <a:ext cx="2292087" cy="342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BeatEstimator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2987040" y="2273325"/>
            <a:ext cx="1694688" cy="219456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tempo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3566160" y="1560191"/>
            <a:ext cx="0" cy="353568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513688" y="2755535"/>
            <a:ext cx="3291840" cy="1287592"/>
          </a:xfrm>
          <a:prstGeom prst="roundRect">
            <a:avLst>
              <a:gd name="adj" fmla="val 8421"/>
            </a:avLst>
          </a:prstGeom>
          <a:solidFill>
            <a:srgbClr val="16205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574648" y="2842482"/>
            <a:ext cx="316992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PhraseMemory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4940408" y="3198094"/>
            <a:ext cx="2767584" cy="792480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phrases + motifs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lyrical motifs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voices (bass + sax)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8839200" y="2610826"/>
            <a:ext cx="0" cy="821376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912608" y="3432201"/>
            <a:ext cx="926592" cy="0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head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3566160" y="2734336"/>
            <a:ext cx="0" cy="697865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3566160" y="3432201"/>
            <a:ext cx="883920" cy="0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3352800" y="4522399"/>
            <a:ext cx="5486400" cy="1489456"/>
          </a:xfrm>
          <a:prstGeom prst="roundRect">
            <a:avLst>
              <a:gd name="adj" fmla="val 8000"/>
            </a:avLst>
          </a:prstGeom>
          <a:solidFill>
            <a:srgbClr val="253880"/>
          </a:solidFill>
          <a:ln w="2540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3413760" y="4574896"/>
            <a:ext cx="5364480" cy="315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ArcController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3450336" y="4886419"/>
            <a:ext cx="5291328" cy="853440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5-min performance arc  ·  leadership &amp; proactive mode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bass pitch-class tracking  ·  energy arc selection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motif + lyrical motif selection  ·  register contrast scheduling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rhythmic density + complementarity  ·  stage swing baseline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6096000" y="4125109"/>
            <a:ext cx="0" cy="315309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Shape 28">
            <a:extLst>
              <a:ext uri="{FF2B5EF4-FFF2-40B4-BE49-F238E27FC236}">
                <a16:creationId xmlns:a16="http://schemas.microsoft.com/office/drawing/2014/main" id="{82A67C06-F31C-A34E-B75C-378998F00D80}"/>
              </a:ext>
            </a:extLst>
          </p:cNvPr>
          <p:cNvSpPr/>
          <p:nvPr/>
        </p:nvSpPr>
        <p:spPr>
          <a:xfrm>
            <a:off x="5991749" y="6173273"/>
            <a:ext cx="0" cy="476909"/>
          </a:xfrm>
          <a:prstGeom prst="line">
            <a:avLst/>
          </a:prstGeom>
          <a:noFill/>
          <a:ln w="50800">
            <a:solidFill>
              <a:srgbClr val="FFC000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Shape 13">
            <a:extLst>
              <a:ext uri="{FF2B5EF4-FFF2-40B4-BE49-F238E27FC236}">
                <a16:creationId xmlns:a16="http://schemas.microsoft.com/office/drawing/2014/main" id="{BE87611D-8695-346E-CD03-8723D7EC6F13}"/>
              </a:ext>
            </a:extLst>
          </p:cNvPr>
          <p:cNvSpPr/>
          <p:nvPr/>
        </p:nvSpPr>
        <p:spPr>
          <a:xfrm>
            <a:off x="4834130" y="1139298"/>
            <a:ext cx="582300" cy="0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4" name="Shape 13">
            <a:extLst>
              <a:ext uri="{FF2B5EF4-FFF2-40B4-BE49-F238E27FC236}">
                <a16:creationId xmlns:a16="http://schemas.microsoft.com/office/drawing/2014/main" id="{7493AAE1-3A41-2F24-A433-15942ED6887C}"/>
              </a:ext>
            </a:extLst>
          </p:cNvPr>
          <p:cNvSpPr/>
          <p:nvPr/>
        </p:nvSpPr>
        <p:spPr>
          <a:xfrm>
            <a:off x="2389639" y="1108553"/>
            <a:ext cx="377951" cy="0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B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8847152" y="620973"/>
            <a:ext cx="2628677" cy="1394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9170"/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</a:t>
            </a:r>
            <a:endParaRPr lang="en-US" sz="40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Shape 2"/>
          <p:cNvSpPr/>
          <p:nvPr/>
        </p:nvSpPr>
        <p:spPr>
          <a:xfrm>
            <a:off x="3573266" y="877825"/>
            <a:ext cx="2767053" cy="536448"/>
          </a:xfrm>
          <a:prstGeom prst="roundRect">
            <a:avLst>
              <a:gd name="adj" fmla="val 18182"/>
            </a:avLst>
          </a:prstGeom>
          <a:solidFill>
            <a:srgbClr val="253880"/>
          </a:solidFill>
          <a:ln w="2540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5" name="Text 3"/>
          <p:cNvSpPr/>
          <p:nvPr/>
        </p:nvSpPr>
        <p:spPr>
          <a:xfrm>
            <a:off x="2762232" y="877825"/>
            <a:ext cx="4389120" cy="536448"/>
          </a:xfrm>
          <a:prstGeom prst="rect">
            <a:avLst/>
          </a:prstGeom>
          <a:noFill/>
          <a:ln/>
        </p:spPr>
        <p:txBody>
          <a:bodyPr wrap="square" lIns="67733" tIns="67733" rIns="67733" bIns="67733" rtlCol="0" anchor="ctr"/>
          <a:lstStyle/>
          <a:p>
            <a:pPr algn="ctr" defTabSz="1219170"/>
            <a:r>
              <a:rPr lang="en-US" sz="2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ArcController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Shape 4"/>
          <p:cNvSpPr/>
          <p:nvPr/>
        </p:nvSpPr>
        <p:spPr>
          <a:xfrm>
            <a:off x="2730957" y="1775399"/>
            <a:ext cx="4420393" cy="717212"/>
          </a:xfrm>
          <a:prstGeom prst="roundRect">
            <a:avLst>
              <a:gd name="adj" fmla="val 15385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5"/>
          <p:cNvSpPr/>
          <p:nvPr/>
        </p:nvSpPr>
        <p:spPr>
          <a:xfrm>
            <a:off x="3188952" y="1858626"/>
            <a:ext cx="353568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HarmonyController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6"/>
          <p:cNvSpPr/>
          <p:nvPr/>
        </p:nvSpPr>
        <p:spPr>
          <a:xfrm>
            <a:off x="2862951" y="2175089"/>
            <a:ext cx="4187683" cy="268224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mode, progression, pedal  ·  tritone substitution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1177272" y="2920754"/>
            <a:ext cx="7559040" cy="2022280"/>
          </a:xfrm>
          <a:prstGeom prst="roundRect">
            <a:avLst>
              <a:gd name="adj" fmla="val 6780"/>
            </a:avLst>
          </a:prstGeom>
          <a:solidFill>
            <a:srgbClr val="253880"/>
          </a:solidFill>
          <a:ln w="2540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238232" y="2989129"/>
            <a:ext cx="743712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PhraseGenerator (LSTM)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2073118" y="3354889"/>
            <a:ext cx="6565657" cy="1072896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+ chord conditioning  ·  pitch range limits + register gravity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contrast  ·  scale pitch bias  ·  contour steering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swing/triplet bias  ·  energy arc shaping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long-note penalty + singable duration bias  ·  motivic development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leading  ·  modal leap bonus (P4/P5)  ·  repetition penalty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injection  ·  beat accumulator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4533" y="5446620"/>
            <a:ext cx="2129360" cy="1114235"/>
          </a:xfrm>
          <a:prstGeom prst="roundRect">
            <a:avLst>
              <a:gd name="adj" fmla="val 12308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38329" y="5541193"/>
            <a:ext cx="256032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PhraseMemory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832714" y="5906953"/>
            <a:ext cx="2129359" cy="560832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motifs, recall,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self-play seed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3310872" y="5436019"/>
            <a:ext cx="3291840" cy="1193225"/>
          </a:xfrm>
          <a:prstGeom prst="roundRect">
            <a:avLst>
              <a:gd name="adj" fmla="val 12308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3371832" y="5695449"/>
            <a:ext cx="316992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WebAudienceDisplay / OscOutput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3495872" y="6222668"/>
            <a:ext cx="2921840" cy="426720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sees full intended phrase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9334831" y="2920754"/>
            <a:ext cx="2316480" cy="1288382"/>
          </a:xfrm>
          <a:prstGeom prst="roundRect">
            <a:avLst>
              <a:gd name="adj" fmla="val 12308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9391815" y="3110921"/>
            <a:ext cx="2194560" cy="4693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thinning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9432367" y="3656791"/>
            <a:ext cx="2121408" cy="627889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notes dropped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stochastically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9334831" y="4699726"/>
            <a:ext cx="2316480" cy="998153"/>
          </a:xfrm>
          <a:prstGeom prst="roundRect">
            <a:avLst>
              <a:gd name="adj" fmla="val 17391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9395791" y="4794298"/>
            <a:ext cx="2194560" cy="316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MidiOutput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9432367" y="5118493"/>
            <a:ext cx="2121408" cy="195072"/>
          </a:xfrm>
          <a:prstGeom prst="rect">
            <a:avLst/>
          </a:prstGeom>
          <a:noFill/>
          <a:ln/>
        </p:spPr>
        <p:txBody>
          <a:bodyPr wrap="square" lIns="33867" tIns="33867" rIns="33867" bIns="33867" rtlCol="0" anchor="t"/>
          <a:lstStyle/>
          <a:p>
            <a:pPr defTabSz="1219170"/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arc × peak × end taper</a:t>
            </a:r>
            <a:endParaRPr lang="en-US" sz="16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9330061" y="6121942"/>
            <a:ext cx="2316479" cy="438912"/>
          </a:xfrm>
          <a:prstGeom prst="roundRect">
            <a:avLst>
              <a:gd name="adj" fmla="val 22222"/>
            </a:avLst>
          </a:prstGeom>
          <a:solidFill>
            <a:srgbClr val="2A3570"/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9330061" y="6121942"/>
            <a:ext cx="2435219" cy="438912"/>
          </a:xfrm>
          <a:prstGeom prst="rect">
            <a:avLst/>
          </a:prstGeom>
          <a:noFill/>
          <a:ln/>
        </p:spPr>
        <p:txBody>
          <a:bodyPr wrap="square" lIns="67733" tIns="67733" rIns="67733" bIns="67733" rtlCol="0" anchor="ctr"/>
          <a:lstStyle/>
          <a:p>
            <a:pPr algn="ctr" defTabSz="1219170"/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 (sax voice)</a:t>
            </a:r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4956792" y="5186874"/>
            <a:ext cx="0" cy="6096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1808074" y="5043753"/>
            <a:ext cx="1" cy="335547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4956792" y="5043754"/>
            <a:ext cx="0" cy="305332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6" name="Shape 31">
            <a:extLst>
              <a:ext uri="{FF2B5EF4-FFF2-40B4-BE49-F238E27FC236}">
                <a16:creationId xmlns:a16="http://schemas.microsoft.com/office/drawing/2014/main" id="{BF73742D-C58B-745E-C84B-09469BF39C30}"/>
              </a:ext>
            </a:extLst>
          </p:cNvPr>
          <p:cNvSpPr/>
          <p:nvPr/>
        </p:nvSpPr>
        <p:spPr>
          <a:xfrm flipH="1">
            <a:off x="10388467" y="4311169"/>
            <a:ext cx="7600" cy="323365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7" name="Shape 31">
            <a:extLst>
              <a:ext uri="{FF2B5EF4-FFF2-40B4-BE49-F238E27FC236}">
                <a16:creationId xmlns:a16="http://schemas.microsoft.com/office/drawing/2014/main" id="{D564B4AF-489C-043B-EABE-47C335D52D83}"/>
              </a:ext>
            </a:extLst>
          </p:cNvPr>
          <p:cNvSpPr/>
          <p:nvPr/>
        </p:nvSpPr>
        <p:spPr>
          <a:xfrm>
            <a:off x="10388468" y="5772088"/>
            <a:ext cx="0" cy="340838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9" name="Shape 31">
            <a:extLst>
              <a:ext uri="{FF2B5EF4-FFF2-40B4-BE49-F238E27FC236}">
                <a16:creationId xmlns:a16="http://schemas.microsoft.com/office/drawing/2014/main" id="{75C8DDBB-FB84-20C6-A810-B200A3A2F6C0}"/>
              </a:ext>
            </a:extLst>
          </p:cNvPr>
          <p:cNvSpPr/>
          <p:nvPr/>
        </p:nvSpPr>
        <p:spPr>
          <a:xfrm>
            <a:off x="4956792" y="1414273"/>
            <a:ext cx="0" cy="310630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0" name="Shape 31">
            <a:extLst>
              <a:ext uri="{FF2B5EF4-FFF2-40B4-BE49-F238E27FC236}">
                <a16:creationId xmlns:a16="http://schemas.microsoft.com/office/drawing/2014/main" id="{87FC4B10-340A-6F3B-E434-9066D920521B}"/>
              </a:ext>
            </a:extLst>
          </p:cNvPr>
          <p:cNvSpPr/>
          <p:nvPr/>
        </p:nvSpPr>
        <p:spPr>
          <a:xfrm>
            <a:off x="4956792" y="2561886"/>
            <a:ext cx="0" cy="298611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3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1" name="Shape 28">
            <a:extLst>
              <a:ext uri="{FF2B5EF4-FFF2-40B4-BE49-F238E27FC236}">
                <a16:creationId xmlns:a16="http://schemas.microsoft.com/office/drawing/2014/main" id="{4AF251FC-3F52-BB0D-6527-22ED0889C44F}"/>
              </a:ext>
            </a:extLst>
          </p:cNvPr>
          <p:cNvSpPr/>
          <p:nvPr/>
        </p:nvSpPr>
        <p:spPr>
          <a:xfrm>
            <a:off x="4956792" y="221674"/>
            <a:ext cx="0" cy="504184"/>
          </a:xfrm>
          <a:prstGeom prst="line">
            <a:avLst/>
          </a:prstGeom>
          <a:noFill/>
          <a:ln w="50800">
            <a:solidFill>
              <a:srgbClr val="FFC000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" name="Shape 13">
            <a:extLst>
              <a:ext uri="{FF2B5EF4-FFF2-40B4-BE49-F238E27FC236}">
                <a16:creationId xmlns:a16="http://schemas.microsoft.com/office/drawing/2014/main" id="{C7B5150A-7B3C-0DF6-D272-7A58E5994619}"/>
              </a:ext>
            </a:extLst>
          </p:cNvPr>
          <p:cNvSpPr/>
          <p:nvPr/>
        </p:nvSpPr>
        <p:spPr>
          <a:xfrm>
            <a:off x="8847152" y="3580314"/>
            <a:ext cx="377951" cy="0"/>
          </a:xfrm>
          <a:prstGeom prst="line">
            <a:avLst/>
          </a:prstGeom>
          <a:noFill/>
          <a:ln w="50800">
            <a:solidFill>
              <a:srgbClr val="CADCFC"/>
            </a:solidFill>
            <a:prstDash val="solid"/>
            <a:tailEnd type="arrow"/>
          </a:ln>
        </p:spPr>
        <p:txBody>
          <a:bodyPr/>
          <a:lstStyle/>
          <a:p>
            <a:pPr defTabSz="1219170"/>
            <a:endParaRPr lang="en-US" sz="240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D793BB-5984-061A-79FE-248D7810A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0065DF7-EEE5-CCF2-2669-649CAF486E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03249"/>
            <a:ext cx="10515600" cy="5273714"/>
          </a:xfrm>
        </p:spPr>
        <p:txBody>
          <a:bodyPr>
            <a:normAutofit/>
          </a:bodyPr>
          <a:lstStyle/>
          <a:p>
            <a:r>
              <a:rPr lang="en-US" dirty="0"/>
              <a:t>Repo is on </a:t>
            </a:r>
            <a:r>
              <a:rPr lang="en-US" dirty="0">
                <a:hlinkClick r:id="rId3"/>
              </a:rPr>
              <a:t>github.com/davidderoure/wolfson</a:t>
            </a:r>
            <a:r>
              <a:rPr lang="en-US" dirty="0"/>
              <a:t>  </a:t>
            </a:r>
          </a:p>
          <a:p>
            <a:endParaRPr lang="en-US" dirty="0"/>
          </a:p>
          <a:p>
            <a:r>
              <a:rPr lang="en-US" dirty="0"/>
              <a:t>Acknowledgements:</a:t>
            </a:r>
          </a:p>
          <a:p>
            <a:pPr lvl="1"/>
            <a:r>
              <a:rPr lang="en-US" dirty="0"/>
              <a:t>Ray </a:t>
            </a:r>
            <a:r>
              <a:rPr lang="en-US" dirty="0" err="1"/>
              <a:t>d’Inverno</a:t>
            </a:r>
            <a:r>
              <a:rPr lang="en-US" dirty="0"/>
              <a:t> (for jazz, Lisp, AI, slick licks)</a:t>
            </a:r>
          </a:p>
          <a:p>
            <a:pPr lvl="1"/>
            <a:r>
              <a:rPr lang="en-US" dirty="0"/>
              <a:t>Mark </a:t>
            </a:r>
            <a:r>
              <a:rPr lang="en-US" dirty="0" err="1"/>
              <a:t>d’Inverno</a:t>
            </a:r>
            <a:r>
              <a:rPr lang="en-US" dirty="0"/>
              <a:t> (for jazz, AI, creativity, slick licks)</a:t>
            </a:r>
          </a:p>
          <a:p>
            <a:pPr lvl="1"/>
            <a:r>
              <a:rPr lang="en-US" dirty="0"/>
              <a:t>George E Lewis (for Voyager and Forager)</a:t>
            </a:r>
          </a:p>
          <a:p>
            <a:pPr lvl="1"/>
            <a:r>
              <a:rPr lang="en-US" dirty="0"/>
              <a:t>Robert Laidlow (for Alter-</a:t>
            </a:r>
            <a:r>
              <a:rPr lang="en-US" dirty="0" err="1"/>
              <a:t>ing</a:t>
            </a:r>
            <a:r>
              <a:rPr lang="en-US" dirty="0"/>
              <a:t> Ada Lovelace, and sax)</a:t>
            </a:r>
          </a:p>
          <a:p>
            <a:pPr lvl="1"/>
            <a:r>
              <a:rPr lang="en-US" dirty="0" err="1"/>
              <a:t>Hongshuo</a:t>
            </a:r>
            <a:r>
              <a:rPr lang="en-US" dirty="0"/>
              <a:t> Fan (for Music Gesture Recognition)</a:t>
            </a:r>
          </a:p>
          <a:p>
            <a:pPr lvl="1"/>
            <a:r>
              <a:rPr lang="en-US" dirty="0" err="1"/>
              <a:t>Bofan</a:t>
            </a:r>
            <a:r>
              <a:rPr lang="en-US" dirty="0"/>
              <a:t> Ma (for always enabling musicality)</a:t>
            </a:r>
          </a:p>
          <a:p>
            <a:pPr lvl="1"/>
            <a:r>
              <a:rPr lang="en-US" dirty="0"/>
              <a:t>Wolfson Digital Research Cluster (for AIMC 2024)</a:t>
            </a:r>
          </a:p>
          <a:p>
            <a:pPr lvl="1"/>
            <a:endParaRPr lang="en-US" dirty="0"/>
          </a:p>
          <a:p>
            <a:pPr lvl="0"/>
            <a:r>
              <a:rPr lang="en-US" sz="2400" i="1" dirty="0"/>
              <a:t>Grand Challenges for Computing Research</a:t>
            </a:r>
            <a:r>
              <a:rPr lang="en-US" sz="2400" dirty="0"/>
              <a:t> – Tony Hoare</a:t>
            </a:r>
          </a:p>
          <a:p>
            <a:endParaRPr lang="en-US" sz="2400" dirty="0"/>
          </a:p>
        </p:txBody>
      </p:sp>
      <p:pic>
        <p:nvPicPr>
          <p:cNvPr id="14" name="Picture 13" descr="A blue and white logo&#10;&#10;Description automatically generated">
            <a:extLst>
              <a:ext uri="{FF2B5EF4-FFF2-40B4-BE49-F238E27FC236}">
                <a16:creationId xmlns:a16="http://schemas.microsoft.com/office/drawing/2014/main" id="{AE2E2FB4-45D4-955A-DA70-41F10F631EA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92449" y="2357036"/>
            <a:ext cx="741532" cy="741532"/>
          </a:xfrm>
          <a:prstGeom prst="rect">
            <a:avLst/>
          </a:prstGeom>
        </p:spPr>
      </p:pic>
      <p:pic>
        <p:nvPicPr>
          <p:cNvPr id="16" name="Picture 15" descr="torch logo icon">
            <a:extLst>
              <a:ext uri="{FF2B5EF4-FFF2-40B4-BE49-F238E27FC236}">
                <a16:creationId xmlns:a16="http://schemas.microsoft.com/office/drawing/2014/main" id="{AF5C0374-A45C-8F4F-13B3-71AE93C08BD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80223" y="2360353"/>
            <a:ext cx="737827" cy="737827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Picture 16" descr="performance research logo black">
            <a:extLst>
              <a:ext uri="{FF2B5EF4-FFF2-40B4-BE49-F238E27FC236}">
                <a16:creationId xmlns:a16="http://schemas.microsoft.com/office/drawing/2014/main" id="{4898947E-1E9F-6C26-EC1A-DCA7850E59F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82407" y="4199186"/>
            <a:ext cx="1535643" cy="867657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Picture 17" descr="A green and white logo&#10;&#10;Description automatically generated">
            <a:extLst>
              <a:ext uri="{FF2B5EF4-FFF2-40B4-BE49-F238E27FC236}">
                <a16:creationId xmlns:a16="http://schemas.microsoft.com/office/drawing/2014/main" id="{E44206BB-E239-0EB4-52D5-DB5A84D1386C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2407" y="3277793"/>
            <a:ext cx="1571393" cy="797978"/>
          </a:xfrm>
          <a:prstGeom prst="rect">
            <a:avLst/>
          </a:prstGeom>
        </p:spPr>
      </p:pic>
      <p:pic>
        <p:nvPicPr>
          <p:cNvPr id="19" name="Picture 2" descr="PRiSM logo with text">
            <a:extLst>
              <a:ext uri="{FF2B5EF4-FFF2-40B4-BE49-F238E27FC236}">
                <a16:creationId xmlns:a16="http://schemas.microsoft.com/office/drawing/2014/main" id="{F097A706-7944-CDD7-69C4-1D5CA675F2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8258" y="746853"/>
            <a:ext cx="2331720" cy="1000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537883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57F209-013F-6D3B-C37E-800D01E63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82039-95D3-7284-293F-74EF8AB676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05753"/>
          </a:xfrm>
        </p:spPr>
        <p:txBody>
          <a:bodyPr/>
          <a:lstStyle/>
          <a:p>
            <a:r>
              <a:rPr lang="en-US" dirty="0"/>
              <a:t>Potential limitations of the chosen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ED06D-6FD1-F54D-1BE3-2C1CCEDA23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3902"/>
            <a:ext cx="10515600" cy="4783061"/>
          </a:xfrm>
        </p:spPr>
        <p:txBody>
          <a:bodyPr>
            <a:normAutofit/>
          </a:bodyPr>
          <a:lstStyle/>
          <a:p>
            <a:r>
              <a:rPr lang="en-GB" dirty="0"/>
              <a:t>Time feel might be mechanical – lack of </a:t>
            </a:r>
            <a:r>
              <a:rPr lang="en-GB" dirty="0" err="1"/>
              <a:t>microtiming</a:t>
            </a:r>
            <a:endParaRPr lang="en-GB" dirty="0"/>
          </a:p>
          <a:p>
            <a:r>
              <a:rPr lang="en-GB" dirty="0"/>
              <a:t>Conversation might be too polite</a:t>
            </a:r>
          </a:p>
          <a:p>
            <a:r>
              <a:rPr lang="en-GB" dirty="0"/>
              <a:t>No personal voice</a:t>
            </a:r>
          </a:p>
          <a:p>
            <a:r>
              <a:rPr lang="en-GB" dirty="0"/>
              <a:t>Arc is clock-driven, not music-driven</a:t>
            </a:r>
          </a:p>
          <a:p>
            <a:r>
              <a:rPr lang="en-GB" dirty="0"/>
              <a:t>Motivic development might feel like repetition</a:t>
            </a:r>
          </a:p>
          <a:p>
            <a:r>
              <a:rPr lang="en-GB" dirty="0"/>
              <a:t>It uses MIDI, so perhaps it inevitably sounds like a very good MIDI file but there’ll be a lack of expression/articulation</a:t>
            </a:r>
          </a:p>
          <a:p>
            <a:endParaRPr lang="en-GB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50391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1478</TotalTime>
  <Words>623</Words>
  <Application>Microsoft Macintosh PowerPoint</Application>
  <PresentationFormat>Widescreen</PresentationFormat>
  <Paragraphs>124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Aptos</vt:lpstr>
      <vt:lpstr>Aptos Display</vt:lpstr>
      <vt:lpstr>Arial</vt:lpstr>
      <vt:lpstr>Calibri</vt:lpstr>
      <vt:lpstr>Office Theme</vt:lpstr>
      <vt:lpstr>1_Office Theme</vt:lpstr>
      <vt:lpstr>Slick Licks</vt:lpstr>
      <vt:lpstr>The Ambition</vt:lpstr>
      <vt:lpstr>All the things I have been* thinking about </vt:lpstr>
      <vt:lpstr>5 minute arc</vt:lpstr>
      <vt:lpstr>PowerPoint Presentation</vt:lpstr>
      <vt:lpstr>PowerPoint Presentation</vt:lpstr>
      <vt:lpstr>PowerPoint Presentation</vt:lpstr>
      <vt:lpstr>Potential limitations of the chosen approach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 De Roure</dc:creator>
  <cp:lastModifiedBy>David De Roure</cp:lastModifiedBy>
  <cp:revision>14</cp:revision>
  <dcterms:created xsi:type="dcterms:W3CDTF">2026-03-31T17:42:52Z</dcterms:created>
  <dcterms:modified xsi:type="dcterms:W3CDTF">2026-04-01T18:21:35Z</dcterms:modified>
</cp:coreProperties>
</file>